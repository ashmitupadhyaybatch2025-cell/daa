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rief" id="{d3d8195b-e719-7d8f-2d22-9cf3531f6b67}">
          <p14:sldIdLst>
            <p14:sldId id="256"/>
            <p14:sldId id="257"/>
          </p14:sldIdLst>
        </p14:section>
        <p14:section name="Scenes" id="{5bc10877-ddab-061b-d7a1-6e3c4d9a1140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 The graph on the right is the exact example graph used throughout the video: A-B=4, A-C=3, B-C=1, B-D=2, C-D=4, C-E=5, D-E=2, D-F=3, E-F=1.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Colour semantics for the whole video: cyan = chosen / accepted edge, dashed blue = candidate edge, red dashed = skipped edge (would create a cycle), dim blue = not yet considered. The graph layout (A left, F right, B/D on top row, C/E on bottom row) is shown on slide 7; keep vertex letters and weights exactly as shown. The very last frame must read exactly: Generated using InVideo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1 (0-10 s). Hook. Dark navy background, glowing dots appear and wires draw between them. End the scene on the example graph (A-F) with weights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2 (10-25 s). Why V-1 edges: a connected graph on V vertices needs at least V-1 edges to touch every vertex; each extra edge beyond V-1 closes a cycle. Animate: start with 6 isolated vertices, add edges one by one to show it takes 5 to connect them, then show a 6th edge forming a cycle in 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3 (25-45 s). The panel shows the state after Prim has picked AC=3 and CB=1 (tree = {A, B, C}). Candidate edges leaving the tree: BD=2, CD=4, CE=5 (dashed blue); BD is the cheapest and is chosen next. AB=4 has both ends inside the tree, so adding it would create a cycle (red dashed).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4 (45-67 s). Sorted edge list for the example graph: BC=1, EF=1, BD=2, DE=2, AC=3, DF=3, AB=4, CD=4, CE=5. (AC and DF tie at weight 3; this storyboard processes AC first. DF is rejected either way, because D and F are already connected through E.) Accepted: BC, EF, BD, DE, AC. After 5 edges (V-1) the tree is complete and the remaining edges are never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5 starts here (67-88 s total across slides 7, 8, 9; roughly 67-71 s for this graph reveal, 71-80 s Prim, 80-88 s Kruskal). This is the locked reference graph: A-B=4, A-C=3, B-C=1, B-D=2, C-D=4, C-E=5, D-E=2, D-F=3, E-F=1. Do not add, remove or relabel any 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5, Prim part (about 71-80 s). Order of picks: AC=3, CB=1, BD=2, DE=2, EF=1; running totals 3, 4, 6, 8, 9. Dashed blue edges in each panel are the candidate edges leaving the current tree; the cheapest candidate is the one picked in the next panel. Final panel: all 5 tree edges glow cyan, other edges dim. Total MST weight =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5, Kruskal part (about 80-88 s). Sorted order: BC=1, EF=1, BD=2, DE=2, AC=3, DF=3, AB=4, CD=4, CE=5. Accepted: BC, EF, BD, DE, AC (running totals 1, 2, 4, 6, 9). The sixth panel shows DF=3 being considered next: D and F are already connected through D-E-F, so adding DF would close a cycle, and it is skipped (red dashed). Tie note: AC and DF both weigh 3; DF is rejected whichever is processed first. Same MST edge set as Prim, total weight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6 (88-105 s). Caption suggestion: Prim: O(V^2) or O(E log V)  |  Kruskal: O(E log E). Show the two cards side by side with the Big-O terms fading in one at a time as they are spoken. The on-screen note E log E = O(E log V) is optional if time is short.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7 (105-120 s). The last sentence of the narration was cut off in the source script; it is completed here as "infrastructure design". The very last frame must display exactly this credit text, including the full stop: Generated using InVideo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914400"/>
            <a:ext cx="44805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1280160"/>
            <a:ext cx="44805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3474720"/>
            <a:ext cx="42976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Prim's and Kruskal's MST  |  Explainer storyboard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463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463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9144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DESIGN AND ANALYSIS OF ALGORITHMS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128016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Prim's and Kruskal's Minimum Spanning Tree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347472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Storyboard and narration for a 90 to 120 second explainer video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 flipV="1">
            <a:off x="5303520" y="1371600"/>
            <a:ext cx="1036320" cy="1188720"/>
          </a:xfrm>
          <a:prstGeom prst="line">
            <a:avLst/>
          </a:prstGeom>
          <a:noFill/>
          <a:ln w="101600">
            <a:solidFill>
              <a:schemeClr val="accent1">
                <a:alpha val="20000"/>
              </a:scheme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5303520" y="1371600"/>
            <a:ext cx="1036320" cy="118872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0" y="2560320"/>
            <a:ext cx="1036320" cy="1188720"/>
          </a:xfrm>
          <a:prstGeom prst="line">
            <a:avLst/>
          </a:prstGeom>
          <a:noFill/>
          <a:ln w="101600">
            <a:solidFill>
              <a:schemeClr val="accent1">
                <a:alpha val="20000"/>
              </a:scheme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2560320"/>
            <a:ext cx="1036320" cy="118872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39840" y="1371600"/>
            <a:ext cx="0" cy="2377440"/>
          </a:xfrm>
          <a:prstGeom prst="line">
            <a:avLst/>
          </a:prstGeom>
          <a:noFill/>
          <a:ln w="101600">
            <a:solidFill>
              <a:schemeClr val="accent1">
                <a:alpha val="20000"/>
              </a:scheme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39840" y="1371600"/>
            <a:ext cx="0" cy="237744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39840" y="1371600"/>
            <a:ext cx="1036320" cy="0"/>
          </a:xfrm>
          <a:prstGeom prst="line">
            <a:avLst/>
          </a:prstGeom>
          <a:noFill/>
          <a:ln w="101600">
            <a:solidFill>
              <a:schemeClr val="accent1">
                <a:alpha val="20000"/>
              </a:scheme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39840" y="1371600"/>
            <a:ext cx="1036320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6339840" y="1371600"/>
            <a:ext cx="1036320" cy="2377440"/>
          </a:xfrm>
          <a:prstGeom prst="line">
            <a:avLst/>
          </a:prstGeom>
          <a:noFill/>
          <a:ln w="101600">
            <a:solidFill>
              <a:schemeClr val="accent1">
                <a:alpha val="20000"/>
              </a:scheme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6339840" y="1371600"/>
            <a:ext cx="1036320" cy="237744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39840" y="3749040"/>
            <a:ext cx="1036320" cy="0"/>
          </a:xfrm>
          <a:prstGeom prst="line">
            <a:avLst/>
          </a:prstGeom>
          <a:noFill/>
          <a:ln w="101600">
            <a:solidFill>
              <a:schemeClr val="accent1">
                <a:alpha val="20000"/>
              </a:scheme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39840" y="3749040"/>
            <a:ext cx="1036320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76160" y="1371600"/>
            <a:ext cx="0" cy="2377440"/>
          </a:xfrm>
          <a:prstGeom prst="line">
            <a:avLst/>
          </a:prstGeom>
          <a:noFill/>
          <a:ln w="101600">
            <a:solidFill>
              <a:schemeClr val="accent1">
                <a:alpha val="20000"/>
              </a:scheme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76160" y="1371600"/>
            <a:ext cx="0" cy="237744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76160" y="1371600"/>
            <a:ext cx="1036320" cy="1188720"/>
          </a:xfrm>
          <a:prstGeom prst="line">
            <a:avLst/>
          </a:prstGeom>
          <a:noFill/>
          <a:ln w="101600">
            <a:solidFill>
              <a:schemeClr val="accent1">
                <a:alpha val="20000"/>
              </a:scheme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76160" y="1371600"/>
            <a:ext cx="1036320" cy="118872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7376160" y="2560320"/>
            <a:ext cx="1036320" cy="1188720"/>
          </a:xfrm>
          <a:prstGeom prst="line">
            <a:avLst/>
          </a:prstGeom>
          <a:noFill/>
          <a:ln w="101600">
            <a:solidFill>
              <a:schemeClr val="accent1">
                <a:alpha val="20000"/>
              </a:scheme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7376160" y="2560320"/>
            <a:ext cx="1036320" cy="118872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6232" y="1856232"/>
            <a:ext cx="310896" cy="219456"/>
          </a:xfrm>
          <a:prstGeom prst="roundRect">
            <a:avLst>
              <a:gd name="adj" fmla="val 20833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6232" y="3044952"/>
            <a:ext cx="310896" cy="219456"/>
          </a:xfrm>
          <a:prstGeom prst="roundRect">
            <a:avLst>
              <a:gd name="adj" fmla="val 20833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84392" y="2450592"/>
            <a:ext cx="310896" cy="219456"/>
          </a:xfrm>
          <a:prstGeom prst="roundRect">
            <a:avLst>
              <a:gd name="adj" fmla="val 20833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02552" y="1261872"/>
            <a:ext cx="310896" cy="219456"/>
          </a:xfrm>
          <a:prstGeom prst="roundRect">
            <a:avLst>
              <a:gd name="adj" fmla="val 20833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02552" y="2450592"/>
            <a:ext cx="310896" cy="219456"/>
          </a:xfrm>
          <a:prstGeom prst="roundRect">
            <a:avLst>
              <a:gd name="adj" fmla="val 20833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02552" y="3639312"/>
            <a:ext cx="310896" cy="219456"/>
          </a:xfrm>
          <a:prstGeom prst="roundRect">
            <a:avLst>
              <a:gd name="adj" fmla="val 20833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220712" y="2450592"/>
            <a:ext cx="310896" cy="219456"/>
          </a:xfrm>
          <a:prstGeom prst="roundRect">
            <a:avLst>
              <a:gd name="adj" fmla="val 20833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738872" y="1856232"/>
            <a:ext cx="310896" cy="219456"/>
          </a:xfrm>
          <a:prstGeom prst="roundRect">
            <a:avLst>
              <a:gd name="adj" fmla="val 20833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738872" y="3044952"/>
            <a:ext cx="310896" cy="219456"/>
          </a:xfrm>
          <a:prstGeom prst="roundRect">
            <a:avLst>
              <a:gd name="adj" fmla="val 20833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992624" y="2249424"/>
            <a:ext cx="621792" cy="621792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33" name="Text 31"/>
          <p:cNvSpPr/>
          <p:nvPr/>
        </p:nvSpPr>
        <p:spPr>
          <a:xfrm>
            <a:off x="5120640" y="2377440"/>
            <a:ext cx="365760" cy="365760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028944" y="1060704"/>
            <a:ext cx="621792" cy="621792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35" name="Text 33"/>
          <p:cNvSpPr/>
          <p:nvPr/>
        </p:nvSpPr>
        <p:spPr>
          <a:xfrm>
            <a:off x="6156960" y="1188720"/>
            <a:ext cx="365760" cy="365760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028944" y="3438144"/>
            <a:ext cx="621792" cy="621792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37" name="Text 35"/>
          <p:cNvSpPr/>
          <p:nvPr/>
        </p:nvSpPr>
        <p:spPr>
          <a:xfrm>
            <a:off x="6156960" y="3566160"/>
            <a:ext cx="365760" cy="365760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065264" y="1060704"/>
            <a:ext cx="621792" cy="621792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39" name="Text 37"/>
          <p:cNvSpPr/>
          <p:nvPr/>
        </p:nvSpPr>
        <p:spPr>
          <a:xfrm>
            <a:off x="7193280" y="1188720"/>
            <a:ext cx="365760" cy="365760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065264" y="3438144"/>
            <a:ext cx="621792" cy="621792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41" name="Text 39"/>
          <p:cNvSpPr/>
          <p:nvPr/>
        </p:nvSpPr>
        <p:spPr>
          <a:xfrm>
            <a:off x="7193280" y="3566160"/>
            <a:ext cx="365760" cy="365760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101584" y="2249424"/>
            <a:ext cx="621792" cy="621792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43" name="Text 41"/>
          <p:cNvSpPr/>
          <p:nvPr/>
        </p:nvSpPr>
        <p:spPr>
          <a:xfrm>
            <a:off x="8229600" y="2377440"/>
            <a:ext cx="365760" cy="365760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FOR THE VIDEO AI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Production brief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35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FORMAT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0992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16:9, 1080p, 90 to 120 seconds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7 scenes with voice-over and captions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Scene timings are on each slide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32588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435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LOOK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70992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Dark navy 0A1128 background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Electric blue 2D7DFF, cyan 22D3EE accents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Clean sans-serif type, glowing graph edges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1272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MOTION AND CAPTIONS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40156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Edges draw on, then glow when chosen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Smooth fades between scenes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Readable bottom captions, high contrast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301752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31272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ACCURACY RULES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340156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Use the exact 9-edge graph (slide 7)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Both MSTs total weight 9, never change it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Final frame text: Generated using InVideo AI.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463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SCENE 1  |  0 TO 10 SEC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The cheapest connection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572000" cy="1691640"/>
          </a:xfrm>
          <a:prstGeom prst="roundRect">
            <a:avLst>
              <a:gd name="adj" fmla="val 4324"/>
            </a:avLst>
          </a:prstGeom>
          <a:solidFill>
            <a:schemeClr val="tx2"/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35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NARRATION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19072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What is the cheapest way to connect several places, computers, or buildings? Minimum Spanning Tree algorithms solve this problem on weighted graphs.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154680"/>
            <a:ext cx="457200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2644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ON SCREEN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538728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Glowing network links up, point by point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Typed question: cheapest way to connect?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Title card: Minimum Spanning Tree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212080" y="1325880"/>
            <a:ext cx="3474720" cy="2651760"/>
          </a:xfrm>
          <a:prstGeom prst="roundRect">
            <a:avLst>
              <a:gd name="adj" fmla="val 2759"/>
            </a:avLst>
          </a:prstGeom>
          <a:solidFill>
            <a:schemeClr val="tx2"/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5458968" y="1618488"/>
            <a:ext cx="993648" cy="1033272"/>
          </a:xfrm>
          <a:prstGeom prst="line">
            <a:avLst/>
          </a:prstGeom>
          <a:noFill/>
          <a:ln w="101600">
            <a:solidFill>
              <a:schemeClr val="accent1">
                <a:alpha val="20000"/>
              </a:scheme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5458968" y="1618488"/>
            <a:ext cx="993648" cy="1033272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58968" y="2651760"/>
            <a:ext cx="993648" cy="1033272"/>
          </a:xfrm>
          <a:prstGeom prst="line">
            <a:avLst/>
          </a:prstGeom>
          <a:noFill/>
          <a:ln w="101600">
            <a:solidFill>
              <a:schemeClr val="accent1">
                <a:alpha val="20000"/>
              </a:scheme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58968" y="2651760"/>
            <a:ext cx="993648" cy="1033272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52616" y="1618488"/>
            <a:ext cx="0" cy="2066544"/>
          </a:xfrm>
          <a:prstGeom prst="line">
            <a:avLst/>
          </a:prstGeom>
          <a:noFill/>
          <a:ln w="101600">
            <a:solidFill>
              <a:schemeClr val="accent1">
                <a:alpha val="20000"/>
              </a:scheme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52616" y="1618488"/>
            <a:ext cx="0" cy="2066544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52616" y="1618488"/>
            <a:ext cx="993648" cy="0"/>
          </a:xfrm>
          <a:prstGeom prst="line">
            <a:avLst/>
          </a:prstGeom>
          <a:noFill/>
          <a:ln w="101600">
            <a:solidFill>
              <a:schemeClr val="accent1">
                <a:alpha val="20000"/>
              </a:scheme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52616" y="1618488"/>
            <a:ext cx="993648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6452616" y="1618488"/>
            <a:ext cx="993648" cy="2066544"/>
          </a:xfrm>
          <a:prstGeom prst="line">
            <a:avLst/>
          </a:prstGeom>
          <a:noFill/>
          <a:ln w="101600">
            <a:solidFill>
              <a:schemeClr val="accent1">
                <a:alpha val="20000"/>
              </a:scheme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6452616" y="1618488"/>
            <a:ext cx="993648" cy="2066544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52616" y="3685032"/>
            <a:ext cx="993648" cy="0"/>
          </a:xfrm>
          <a:prstGeom prst="line">
            <a:avLst/>
          </a:prstGeom>
          <a:noFill/>
          <a:ln w="101600">
            <a:solidFill>
              <a:schemeClr val="accent1">
                <a:alpha val="20000"/>
              </a:scheme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52616" y="3685032"/>
            <a:ext cx="993648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46264" y="1618488"/>
            <a:ext cx="0" cy="2066544"/>
          </a:xfrm>
          <a:prstGeom prst="line">
            <a:avLst/>
          </a:prstGeom>
          <a:noFill/>
          <a:ln w="101600">
            <a:solidFill>
              <a:schemeClr val="accent1">
                <a:alpha val="20000"/>
              </a:scheme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46264" y="1618488"/>
            <a:ext cx="0" cy="2066544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46264" y="1618488"/>
            <a:ext cx="993648" cy="1033272"/>
          </a:xfrm>
          <a:prstGeom prst="line">
            <a:avLst/>
          </a:prstGeom>
          <a:noFill/>
          <a:ln w="101600">
            <a:solidFill>
              <a:schemeClr val="accent1">
                <a:alpha val="20000"/>
              </a:scheme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46264" y="1618488"/>
            <a:ext cx="993648" cy="1033272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7446264" y="2651760"/>
            <a:ext cx="993648" cy="1033272"/>
          </a:xfrm>
          <a:prstGeom prst="line">
            <a:avLst/>
          </a:prstGeom>
          <a:noFill/>
          <a:ln w="101600">
            <a:solidFill>
              <a:schemeClr val="accent1">
                <a:alpha val="20000"/>
              </a:scheme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7446264" y="2651760"/>
            <a:ext cx="993648" cy="1033272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27776" y="2043684"/>
            <a:ext cx="256032" cy="182880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827776" y="3076956"/>
            <a:ext cx="256032" cy="182880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24600" y="2560320"/>
            <a:ext cx="256032" cy="182880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21424" y="1527048"/>
            <a:ext cx="256032" cy="182880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21424" y="2560320"/>
            <a:ext cx="256032" cy="182880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21424" y="3593592"/>
            <a:ext cx="256032" cy="182880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18248" y="2560320"/>
            <a:ext cx="256032" cy="182880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815072" y="2043684"/>
            <a:ext cx="256032" cy="182880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815072" y="3076956"/>
            <a:ext cx="256032" cy="182880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194706" y="2387498"/>
            <a:ext cx="528523" cy="528523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39" name="Text 37"/>
          <p:cNvSpPr/>
          <p:nvPr/>
        </p:nvSpPr>
        <p:spPr>
          <a:xfrm>
            <a:off x="5303520" y="2496312"/>
            <a:ext cx="310896" cy="310896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188354" y="1354226"/>
            <a:ext cx="528523" cy="528523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41" name="Text 39"/>
          <p:cNvSpPr/>
          <p:nvPr/>
        </p:nvSpPr>
        <p:spPr>
          <a:xfrm>
            <a:off x="6297168" y="1463040"/>
            <a:ext cx="310896" cy="310896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188354" y="3420770"/>
            <a:ext cx="528523" cy="528523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43" name="Text 41"/>
          <p:cNvSpPr/>
          <p:nvPr/>
        </p:nvSpPr>
        <p:spPr>
          <a:xfrm>
            <a:off x="6297168" y="3529584"/>
            <a:ext cx="310896" cy="310896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7182002" y="1354226"/>
            <a:ext cx="528523" cy="528523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45" name="Text 43"/>
          <p:cNvSpPr/>
          <p:nvPr/>
        </p:nvSpPr>
        <p:spPr>
          <a:xfrm>
            <a:off x="7290816" y="1463040"/>
            <a:ext cx="310896" cy="310896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7182002" y="3420770"/>
            <a:ext cx="528523" cy="528523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47" name="Text 45"/>
          <p:cNvSpPr/>
          <p:nvPr/>
        </p:nvSpPr>
        <p:spPr>
          <a:xfrm>
            <a:off x="7290816" y="3529584"/>
            <a:ext cx="310896" cy="310896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8175650" y="2387498"/>
            <a:ext cx="528523" cy="528523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49" name="Text 47"/>
          <p:cNvSpPr/>
          <p:nvPr/>
        </p:nvSpPr>
        <p:spPr>
          <a:xfrm>
            <a:off x="8284464" y="2496312"/>
            <a:ext cx="310896" cy="310896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212080" y="4041648"/>
            <a:ext cx="3474720" cy="502920"/>
          </a:xfrm>
          <a:prstGeom prst="roundRect">
            <a:avLst>
              <a:gd name="adj" fmla="val 14545"/>
            </a:avLst>
          </a:prstGeom>
          <a:solidFill>
            <a:schemeClr val="accent1">
              <a:alpha val="25000"/>
            </a:schemeClr>
          </a:solidFill>
          <a:ln/>
        </p:spPr>
        <p:txBody>
          <a:bodyPr wrap="square" lIns="0" tIns="127000" rIns="12700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CAPTION   </a:t>
            </a:r>
            <a:pPr algn="l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What is the cheapest way to connect everything?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463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SCENE 2  |  10 TO 25 SEC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What is an MST?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572000" cy="1691640"/>
          </a:xfrm>
          <a:prstGeom prst="roundRect">
            <a:avLst>
              <a:gd name="adj" fmla="val 4324"/>
            </a:avLst>
          </a:prstGeom>
          <a:solidFill>
            <a:schemeClr val="tx2"/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35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NARRATION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19072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 spanning tree connects every vertex without cycles. If a graph has V vertices, a spanning tree contains exactly V minus one edges. A Minimum Spanning Tree has the smallest possible total edge weight.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154680"/>
            <a:ext cx="457200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2644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ON SCREEN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538728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Tree builds edge by edge on 6 vertices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Fewer than V − 1 edges: graph disconnects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One more than V − 1 edges: a cycle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212080" y="1325880"/>
            <a:ext cx="3474720" cy="2651760"/>
          </a:xfrm>
          <a:prstGeom prst="roundRect">
            <a:avLst>
              <a:gd name="adj" fmla="val 2759"/>
            </a:avLst>
          </a:prstGeom>
          <a:solidFill>
            <a:schemeClr val="tx2"/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94960" y="14813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SPANNING TREE OF V VERTICES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17830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accent2"/>
                </a:solidFill>
              </a:rPr>
              <a:t>V − 1</a:t>
            </a:r>
            <a:endParaRPr lang="en-US" sz="660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2697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edges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3063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Here: 6 vertices → 5 edges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3520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Connected  ·  No cycles  ·  Minimum weight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0" y="4041648"/>
            <a:ext cx="3474720" cy="502920"/>
          </a:xfrm>
          <a:prstGeom prst="roundRect">
            <a:avLst>
              <a:gd name="adj" fmla="val 14545"/>
            </a:avLst>
          </a:prstGeom>
          <a:solidFill>
            <a:schemeClr val="accent1">
              <a:alpha val="25000"/>
            </a:schemeClr>
          </a:solidFill>
          <a:ln/>
        </p:spPr>
        <p:txBody>
          <a:bodyPr wrap="square" lIns="0" tIns="127000" rIns="12700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CAPTION   </a:t>
            </a:r>
            <a:pPr algn="l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Spanning tree: V vertices, V − 1 edges, no cycles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463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SCENE 3  |  25 TO 45 SEC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Prim grows one tree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572000" cy="1691640"/>
          </a:xfrm>
          <a:prstGeom prst="roundRect">
            <a:avLst>
              <a:gd name="adj" fmla="val 4324"/>
            </a:avLst>
          </a:prstGeom>
          <a:solidFill>
            <a:schemeClr val="tx2"/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35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NARRATION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19072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Prim starts from one vertex and grows a single tree. At each step, it chooses the cheapest edge that connects the current tree to a vertex not yet included. It never adds an edge that creates a cycle.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154680"/>
            <a:ext cx="457200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2644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ON SCREEN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538728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Start vertex A pulses, tree grows outward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Cheapest crossing edge glows cyan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Edge inside the tree turns red: cycle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212080" y="1325880"/>
            <a:ext cx="3474720" cy="2651760"/>
          </a:xfrm>
          <a:prstGeom prst="roundRect">
            <a:avLst>
              <a:gd name="adj" fmla="val 2759"/>
            </a:avLst>
          </a:prstGeom>
          <a:solidFill>
            <a:schemeClr val="tx2"/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34072" y="1609344"/>
            <a:ext cx="0" cy="1764792"/>
          </a:xfrm>
          <a:prstGeom prst="line">
            <a:avLst/>
          </a:prstGeom>
          <a:noFill/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34072" y="1609344"/>
            <a:ext cx="969264" cy="882396"/>
          </a:xfrm>
          <a:prstGeom prst="line">
            <a:avLst/>
          </a:prstGeom>
          <a:noFill/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7434072" y="2491740"/>
            <a:ext cx="969264" cy="882396"/>
          </a:xfrm>
          <a:prstGeom prst="line">
            <a:avLst/>
          </a:prstGeom>
          <a:noFill/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64808" y="1609344"/>
            <a:ext cx="969264" cy="0"/>
          </a:xfrm>
          <a:prstGeom prst="line">
            <a:avLst/>
          </a:prstGeom>
          <a:noFill/>
          <a:ln w="76200">
            <a:solidFill>
              <a:schemeClr val="accent1">
                <a:alpha val="18000"/>
              </a:scheme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64808" y="1609344"/>
            <a:ext cx="969264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 flipV="1">
            <a:off x="6464808" y="1609344"/>
            <a:ext cx="969264" cy="1764792"/>
          </a:xfrm>
          <a:prstGeom prst="line">
            <a:avLst/>
          </a:prstGeom>
          <a:noFill/>
          <a:ln w="76200">
            <a:solidFill>
              <a:schemeClr val="accent1">
                <a:alpha val="18000"/>
              </a:scheme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6464808" y="1609344"/>
            <a:ext cx="969264" cy="1764792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464808" y="3374136"/>
            <a:ext cx="969264" cy="0"/>
          </a:xfrm>
          <a:prstGeom prst="line">
            <a:avLst/>
          </a:prstGeom>
          <a:noFill/>
          <a:ln w="76200">
            <a:solidFill>
              <a:schemeClr val="accent1">
                <a:alpha val="18000"/>
              </a:scheme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64808" y="3374136"/>
            <a:ext cx="969264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 flipV="1">
            <a:off x="5495544" y="1609344"/>
            <a:ext cx="969264" cy="882396"/>
          </a:xfrm>
          <a:prstGeom prst="line">
            <a:avLst/>
          </a:prstGeom>
          <a:noFill/>
          <a:ln w="101600">
            <a:solidFill>
              <a:schemeClr val="accent3">
                <a:alpha val="22000"/>
              </a:scheme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5495544" y="1609344"/>
            <a:ext cx="969264" cy="882396"/>
          </a:xfrm>
          <a:prstGeom prst="line">
            <a:avLst/>
          </a:prstGeom>
          <a:noFill/>
          <a:ln w="28575">
            <a:solidFill>
              <a:schemeClr val="accent3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495544" y="2491740"/>
            <a:ext cx="969264" cy="882396"/>
          </a:xfrm>
          <a:prstGeom prst="line">
            <a:avLst/>
          </a:prstGeom>
          <a:noFill/>
          <a:ln w="114300">
            <a:solidFill>
              <a:schemeClr val="accent2">
                <a:alpha val="28000"/>
              </a:scheme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95544" y="2491740"/>
            <a:ext cx="969264" cy="882396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64808" y="1609344"/>
            <a:ext cx="0" cy="1764792"/>
          </a:xfrm>
          <a:prstGeom prst="line">
            <a:avLst/>
          </a:prstGeom>
          <a:noFill/>
          <a:ln w="114300">
            <a:solidFill>
              <a:schemeClr val="accent2">
                <a:alpha val="28000"/>
              </a:scheme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64808" y="1609344"/>
            <a:ext cx="0" cy="1764792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06056" y="2400300"/>
            <a:ext cx="256032" cy="182880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 w="12700">
            <a:solidFill>
              <a:schemeClr val="accent1">
                <a:alpha val="4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</a:rPr>
              <a:t>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90688" y="1959102"/>
            <a:ext cx="256032" cy="182880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 w="12700">
            <a:solidFill>
              <a:schemeClr val="accent1">
                <a:alpha val="4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90688" y="2841498"/>
            <a:ext cx="256032" cy="182880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 w="12700">
            <a:solidFill>
              <a:schemeClr val="accent1">
                <a:alpha val="4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</a:rPr>
              <a:t>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21424" y="1517904"/>
            <a:ext cx="256032" cy="182880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21424" y="2400300"/>
            <a:ext cx="256032" cy="182880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21424" y="3282696"/>
            <a:ext cx="256032" cy="182880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852160" y="1959102"/>
            <a:ext cx="256032" cy="182880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 w="127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852160" y="2841498"/>
            <a:ext cx="256032" cy="182880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36792" y="2400300"/>
            <a:ext cx="256032" cy="182880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1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246827" y="2243023"/>
            <a:ext cx="497434" cy="497434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36" name="Text 34"/>
          <p:cNvSpPr/>
          <p:nvPr/>
        </p:nvSpPr>
        <p:spPr>
          <a:xfrm>
            <a:off x="5349240" y="2345436"/>
            <a:ext cx="292608" cy="292608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216091" y="1360627"/>
            <a:ext cx="497434" cy="497434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38" name="Text 36"/>
          <p:cNvSpPr/>
          <p:nvPr/>
        </p:nvSpPr>
        <p:spPr>
          <a:xfrm>
            <a:off x="6318504" y="1463040"/>
            <a:ext cx="292608" cy="292608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216091" y="3125419"/>
            <a:ext cx="497434" cy="497434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40" name="Text 38"/>
          <p:cNvSpPr/>
          <p:nvPr/>
        </p:nvSpPr>
        <p:spPr>
          <a:xfrm>
            <a:off x="6318504" y="3227832"/>
            <a:ext cx="292608" cy="292608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185355" y="1360627"/>
            <a:ext cx="497434" cy="497434"/>
          </a:xfrm>
          <a:prstGeom prst="ellipse">
            <a:avLst/>
          </a:prstGeom>
          <a:solidFill>
            <a:schemeClr val="accent2">
              <a:alpha val="6000"/>
            </a:schemeClr>
          </a:solidFill>
          <a:ln/>
        </p:spPr>
      </p:sp>
      <p:sp>
        <p:nvSpPr>
          <p:cNvPr id="42" name="Text 40"/>
          <p:cNvSpPr/>
          <p:nvPr/>
        </p:nvSpPr>
        <p:spPr>
          <a:xfrm>
            <a:off x="7287768" y="1463040"/>
            <a:ext cx="292608" cy="292608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185355" y="3125419"/>
            <a:ext cx="497434" cy="497434"/>
          </a:xfrm>
          <a:prstGeom prst="ellipse">
            <a:avLst/>
          </a:prstGeom>
          <a:solidFill>
            <a:schemeClr val="accent2">
              <a:alpha val="6000"/>
            </a:schemeClr>
          </a:solidFill>
          <a:ln/>
        </p:spPr>
      </p:sp>
      <p:sp>
        <p:nvSpPr>
          <p:cNvPr id="44" name="Text 42"/>
          <p:cNvSpPr/>
          <p:nvPr/>
        </p:nvSpPr>
        <p:spPr>
          <a:xfrm>
            <a:off x="7287768" y="3227832"/>
            <a:ext cx="292608" cy="292608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8154619" y="2243023"/>
            <a:ext cx="497434" cy="497434"/>
          </a:xfrm>
          <a:prstGeom prst="ellipse">
            <a:avLst/>
          </a:prstGeom>
          <a:solidFill>
            <a:schemeClr val="accent2">
              <a:alpha val="6000"/>
            </a:schemeClr>
          </a:solidFill>
          <a:ln/>
        </p:spPr>
      </p:sp>
      <p:sp>
        <p:nvSpPr>
          <p:cNvPr id="46" name="Text 44"/>
          <p:cNvSpPr/>
          <p:nvPr/>
        </p:nvSpPr>
        <p:spPr>
          <a:xfrm>
            <a:off x="8257032" y="2345436"/>
            <a:ext cx="292608" cy="292608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5303520" y="36850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cyan = tree  ·  dashed = candidates  ·  red = cycle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212080" y="4041648"/>
            <a:ext cx="3474720" cy="502920"/>
          </a:xfrm>
          <a:prstGeom prst="roundRect">
            <a:avLst>
              <a:gd name="adj" fmla="val 14545"/>
            </a:avLst>
          </a:prstGeom>
          <a:solidFill>
            <a:schemeClr val="accent1">
              <a:alpha val="25000"/>
            </a:schemeClr>
          </a:solidFill>
          <a:ln/>
        </p:spPr>
        <p:txBody>
          <a:bodyPr wrap="square" lIns="0" tIns="127000" rIns="12700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CAPTION   </a:t>
            </a:r>
            <a:pPr algn="l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Prim: grow one tree with the cheapest connecting edge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463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SCENE 4  |  45 TO 67 SEC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Kruskal sorts, then skips cycles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572000" cy="1691640"/>
          </a:xfrm>
          <a:prstGeom prst="roundRect">
            <a:avLst>
              <a:gd name="adj" fmla="val 4324"/>
            </a:avLst>
          </a:prstGeom>
          <a:solidFill>
            <a:schemeClr val="tx2"/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35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NARRATION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19072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Kruskal sorts all edges from lightest to heaviest, then accepts an edge only if it joins two different components. If an edge would create a cycle, it skips it.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154680"/>
            <a:ext cx="457200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2644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ON SCREEN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538728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Edge list sorts lightest to heaviest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Edge joining two components glows cyan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Cycle edge flashes red and is skipped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212080" y="1325880"/>
            <a:ext cx="3474720" cy="2651760"/>
          </a:xfrm>
          <a:prstGeom prst="roundRect">
            <a:avLst>
              <a:gd name="adj" fmla="val 2759"/>
            </a:avLst>
          </a:prstGeom>
          <a:solidFill>
            <a:schemeClr val="tx2"/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94960" y="143560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SORTED EDGE LIST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49240" y="1783080"/>
            <a:ext cx="987552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25400">
            <a:solidFill>
              <a:schemeClr val="accent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B–C = 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28232" y="1783080"/>
            <a:ext cx="987552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25400">
            <a:solidFill>
              <a:schemeClr val="accent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E–F = 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507224" y="1783080"/>
            <a:ext cx="987552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25400">
            <a:solidFill>
              <a:schemeClr val="accent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B–D = 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49240" y="2441448"/>
            <a:ext cx="987552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25400">
            <a:solidFill>
              <a:schemeClr val="accent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D–E = 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28232" y="2441448"/>
            <a:ext cx="987552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25400">
            <a:solidFill>
              <a:schemeClr val="accent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A–C = 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507224" y="2441448"/>
            <a:ext cx="987552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25400">
            <a:solidFill>
              <a:schemeClr val="accent3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D–F = 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49240" y="3099816"/>
            <a:ext cx="987552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A–B = 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28232" y="3099816"/>
            <a:ext cx="987552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C–D = 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507224" y="3099816"/>
            <a:ext cx="987552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C–E = 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303520" y="3749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cyan = accept  ·  red = skip (cycle)  ·  dim = not needed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12080" y="4041648"/>
            <a:ext cx="3474720" cy="502920"/>
          </a:xfrm>
          <a:prstGeom prst="roundRect">
            <a:avLst>
              <a:gd name="adj" fmla="val 14545"/>
            </a:avLst>
          </a:prstGeom>
          <a:solidFill>
            <a:schemeClr val="accent1">
              <a:alpha val="25000"/>
            </a:schemeClr>
          </a:solidFill>
          <a:ln/>
        </p:spPr>
        <p:txBody>
          <a:bodyPr wrap="square" lIns="0" tIns="127000" rIns="12700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CAPTION   </a:t>
            </a:r>
            <a:pPr algn="l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Kruskal: sort edges, skip any edge that forms a cycle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463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SCENE 5  |  67 TO 88 SEC  |  SLIDES 7 TO 9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Our example graph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937760" cy="2743200"/>
          </a:xfrm>
          <a:prstGeom prst="roundRect">
            <a:avLst>
              <a:gd name="adj" fmla="val 2667"/>
            </a:avLst>
          </a:prstGeom>
          <a:solidFill>
            <a:schemeClr val="tx2"/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822960" y="1645920"/>
            <a:ext cx="1402080" cy="1051560"/>
          </a:xfrm>
          <a:prstGeom prst="line">
            <a:avLst/>
          </a:prstGeom>
          <a:noFill/>
          <a:ln w="101600">
            <a:solidFill>
              <a:schemeClr val="accent1">
                <a:alpha val="20000"/>
              </a:scheme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822960" y="1645920"/>
            <a:ext cx="1402080" cy="105156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697480"/>
            <a:ext cx="1402080" cy="1051560"/>
          </a:xfrm>
          <a:prstGeom prst="line">
            <a:avLst/>
          </a:prstGeom>
          <a:noFill/>
          <a:ln w="101600">
            <a:solidFill>
              <a:schemeClr val="accent1">
                <a:alpha val="20000"/>
              </a:scheme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697480"/>
            <a:ext cx="1402080" cy="105156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25040" y="1645920"/>
            <a:ext cx="0" cy="2103120"/>
          </a:xfrm>
          <a:prstGeom prst="line">
            <a:avLst/>
          </a:prstGeom>
          <a:noFill/>
          <a:ln w="101600">
            <a:solidFill>
              <a:schemeClr val="accent1">
                <a:alpha val="20000"/>
              </a:scheme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25040" y="1645920"/>
            <a:ext cx="0" cy="210312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25040" y="1645920"/>
            <a:ext cx="1402080" cy="0"/>
          </a:xfrm>
          <a:prstGeom prst="line">
            <a:avLst/>
          </a:prstGeom>
          <a:noFill/>
          <a:ln w="101600">
            <a:solidFill>
              <a:schemeClr val="accent1">
                <a:alpha val="20000"/>
              </a:scheme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5040" y="1645920"/>
            <a:ext cx="1402080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2225040" y="1645920"/>
            <a:ext cx="1402080" cy="2103120"/>
          </a:xfrm>
          <a:prstGeom prst="line">
            <a:avLst/>
          </a:prstGeom>
          <a:noFill/>
          <a:ln w="101600">
            <a:solidFill>
              <a:schemeClr val="accent1">
                <a:alpha val="20000"/>
              </a:scheme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2225040" y="1645920"/>
            <a:ext cx="1402080" cy="210312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5040" y="3749040"/>
            <a:ext cx="1402080" cy="0"/>
          </a:xfrm>
          <a:prstGeom prst="line">
            <a:avLst/>
          </a:prstGeom>
          <a:noFill/>
          <a:ln w="101600">
            <a:solidFill>
              <a:schemeClr val="accent1">
                <a:alpha val="20000"/>
              </a:scheme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5040" y="3749040"/>
            <a:ext cx="1402080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27120" y="1645920"/>
            <a:ext cx="0" cy="2103120"/>
          </a:xfrm>
          <a:prstGeom prst="line">
            <a:avLst/>
          </a:prstGeom>
          <a:noFill/>
          <a:ln w="101600">
            <a:solidFill>
              <a:schemeClr val="accent1">
                <a:alpha val="20000"/>
              </a:scheme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27120" y="1645920"/>
            <a:ext cx="0" cy="210312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27120" y="1645920"/>
            <a:ext cx="1402080" cy="1051560"/>
          </a:xfrm>
          <a:prstGeom prst="line">
            <a:avLst/>
          </a:prstGeom>
          <a:noFill/>
          <a:ln w="101600">
            <a:solidFill>
              <a:schemeClr val="accent1">
                <a:alpha val="20000"/>
              </a:scheme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27120" y="1645920"/>
            <a:ext cx="1402080" cy="105156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3627120" y="2697480"/>
            <a:ext cx="1402080" cy="1051560"/>
          </a:xfrm>
          <a:prstGeom prst="line">
            <a:avLst/>
          </a:prstGeom>
          <a:noFill/>
          <a:ln w="101600">
            <a:solidFill>
              <a:schemeClr val="accent1">
                <a:alpha val="20000"/>
              </a:scheme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3627120" y="2697480"/>
            <a:ext cx="1402080" cy="105156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68552" y="2061972"/>
            <a:ext cx="310896" cy="219456"/>
          </a:xfrm>
          <a:prstGeom prst="roundRect">
            <a:avLst>
              <a:gd name="adj" fmla="val 20833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68552" y="3113532"/>
            <a:ext cx="310896" cy="219456"/>
          </a:xfrm>
          <a:prstGeom prst="roundRect">
            <a:avLst>
              <a:gd name="adj" fmla="val 20833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069592" y="2587752"/>
            <a:ext cx="310896" cy="219456"/>
          </a:xfrm>
          <a:prstGeom prst="roundRect">
            <a:avLst>
              <a:gd name="adj" fmla="val 20833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770632" y="1536192"/>
            <a:ext cx="310896" cy="219456"/>
          </a:xfrm>
          <a:prstGeom prst="roundRect">
            <a:avLst>
              <a:gd name="adj" fmla="val 20833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70632" y="2587752"/>
            <a:ext cx="310896" cy="219456"/>
          </a:xfrm>
          <a:prstGeom prst="roundRect">
            <a:avLst>
              <a:gd name="adj" fmla="val 20833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70632" y="3639312"/>
            <a:ext cx="310896" cy="219456"/>
          </a:xfrm>
          <a:prstGeom prst="roundRect">
            <a:avLst>
              <a:gd name="adj" fmla="val 20833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71672" y="2587752"/>
            <a:ext cx="310896" cy="219456"/>
          </a:xfrm>
          <a:prstGeom prst="roundRect">
            <a:avLst>
              <a:gd name="adj" fmla="val 20833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172712" y="2061972"/>
            <a:ext cx="310896" cy="219456"/>
          </a:xfrm>
          <a:prstGeom prst="roundRect">
            <a:avLst>
              <a:gd name="adj" fmla="val 20833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172712" y="3113532"/>
            <a:ext cx="310896" cy="219456"/>
          </a:xfrm>
          <a:prstGeom prst="roundRect">
            <a:avLst>
              <a:gd name="adj" fmla="val 20833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12064" y="2386584"/>
            <a:ext cx="621792" cy="621792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2514600"/>
            <a:ext cx="365760" cy="365760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1914144" y="1335024"/>
            <a:ext cx="621792" cy="621792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35" name="Text 33"/>
          <p:cNvSpPr/>
          <p:nvPr/>
        </p:nvSpPr>
        <p:spPr>
          <a:xfrm>
            <a:off x="2042160" y="1463040"/>
            <a:ext cx="365760" cy="365760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1914144" y="3438144"/>
            <a:ext cx="621792" cy="621792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37" name="Text 35"/>
          <p:cNvSpPr/>
          <p:nvPr/>
        </p:nvSpPr>
        <p:spPr>
          <a:xfrm>
            <a:off x="2042160" y="3566160"/>
            <a:ext cx="365760" cy="365760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316224" y="1335024"/>
            <a:ext cx="621792" cy="621792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39" name="Text 37"/>
          <p:cNvSpPr/>
          <p:nvPr/>
        </p:nvSpPr>
        <p:spPr>
          <a:xfrm>
            <a:off x="3444240" y="1463040"/>
            <a:ext cx="365760" cy="365760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3316224" y="3438144"/>
            <a:ext cx="621792" cy="621792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41" name="Text 39"/>
          <p:cNvSpPr/>
          <p:nvPr/>
        </p:nvSpPr>
        <p:spPr>
          <a:xfrm>
            <a:off x="3444240" y="3566160"/>
            <a:ext cx="365760" cy="365760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718304" y="2386584"/>
            <a:ext cx="621792" cy="621792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43" name="Text 41"/>
          <p:cNvSpPr/>
          <p:nvPr/>
        </p:nvSpPr>
        <p:spPr>
          <a:xfrm>
            <a:off x="4846320" y="2514600"/>
            <a:ext cx="365760" cy="365760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325880"/>
          <a:ext cx="31089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Edge</a:t>
                      </a:r>
                      <a:endParaRPr lang="en-US" sz="12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D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Weight</a:t>
                      </a:r>
                      <a:endParaRPr lang="en-US" sz="12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D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A–B</a:t>
                      </a:r>
                      <a:endParaRPr lang="en-US" sz="12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D3EE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3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A–C</a:t>
                      </a:r>
                      <a:endParaRPr lang="en-US" sz="12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D3EE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3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B–C</a:t>
                      </a:r>
                      <a:endParaRPr lang="en-US" sz="12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D3EE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3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B–D</a:t>
                      </a:r>
                      <a:endParaRPr lang="en-US" sz="12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D3EE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3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C–D</a:t>
                      </a:r>
                      <a:endParaRPr lang="en-US" sz="12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D3EE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3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C–E</a:t>
                      </a:r>
                      <a:endParaRPr lang="en-US" sz="12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D3EE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3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D–E</a:t>
                      </a:r>
                      <a:endParaRPr lang="en-US" sz="12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D3EE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3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D–F</a:t>
                      </a:r>
                      <a:endParaRPr lang="en-US" sz="12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D3EE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3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E–F</a:t>
                      </a:r>
                      <a:endParaRPr lang="en-US" sz="12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D3EE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3D"/>
                    </a:solidFill>
                  </a:tcPr>
                </a:tc>
              </a:tr>
            </a:tbl>
          </a:graphicData>
        </a:graphic>
      </p:graphicFrame>
      <p:sp>
        <p:nvSpPr>
          <p:cNvPr id="45" name="Shape 42"/>
          <p:cNvSpPr/>
          <p:nvPr/>
        </p:nvSpPr>
        <p:spPr>
          <a:xfrm>
            <a:off x="457200" y="420624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40080" y="42519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NARRATION   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For our graph, Prim starts at A…  The exact graph fades in as these words are spoken: 6 vertices, 9 undirected weighted edges.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463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SCENE 5  |  PRIM FROM 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Prim's walkthrough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587752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86840" y="1536192"/>
            <a:ext cx="728472" cy="0"/>
          </a:xfrm>
          <a:prstGeom prst="line">
            <a:avLst/>
          </a:prstGeom>
          <a:noFill/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15312" y="1536192"/>
            <a:ext cx="0" cy="585216"/>
          </a:xfrm>
          <a:prstGeom prst="line">
            <a:avLst/>
          </a:prstGeom>
          <a:noFill/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15312" y="1536192"/>
            <a:ext cx="728472" cy="292608"/>
          </a:xfrm>
          <a:prstGeom prst="line">
            <a:avLst/>
          </a:prstGeom>
          <a:noFill/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2115312" y="1828800"/>
            <a:ext cx="728472" cy="292608"/>
          </a:xfrm>
          <a:prstGeom prst="line">
            <a:avLst/>
          </a:prstGeom>
          <a:noFill/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658368" y="1536192"/>
            <a:ext cx="728472" cy="292608"/>
          </a:xfrm>
          <a:prstGeom prst="line">
            <a:avLst/>
          </a:prstGeom>
          <a:noFill/>
          <a:ln w="76200">
            <a:solidFill>
              <a:schemeClr val="accent1">
                <a:alpha val="18000"/>
              </a:scheme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658368" y="1536192"/>
            <a:ext cx="728472" cy="292608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386840" y="1536192"/>
            <a:ext cx="0" cy="585216"/>
          </a:xfrm>
          <a:prstGeom prst="line">
            <a:avLst/>
          </a:prstGeom>
          <a:noFill/>
          <a:ln w="76200">
            <a:solidFill>
              <a:schemeClr val="accent1">
                <a:alpha val="18000"/>
              </a:scheme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86840" y="1536192"/>
            <a:ext cx="0" cy="585216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 flipV="1">
            <a:off x="1386840" y="1536192"/>
            <a:ext cx="728472" cy="585216"/>
          </a:xfrm>
          <a:prstGeom prst="line">
            <a:avLst/>
          </a:prstGeom>
          <a:noFill/>
          <a:ln w="76200">
            <a:solidFill>
              <a:schemeClr val="accent1">
                <a:alpha val="18000"/>
              </a:scheme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1386840" y="1536192"/>
            <a:ext cx="728472" cy="585216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1386840" y="2121408"/>
            <a:ext cx="728472" cy="0"/>
          </a:xfrm>
          <a:prstGeom prst="line">
            <a:avLst/>
          </a:prstGeom>
          <a:noFill/>
          <a:ln w="76200">
            <a:solidFill>
              <a:schemeClr val="accent1">
                <a:alpha val="18000"/>
              </a:scheme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86840" y="2121408"/>
            <a:ext cx="728472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658368" y="1828800"/>
            <a:ext cx="728472" cy="292608"/>
          </a:xfrm>
          <a:prstGeom prst="line">
            <a:avLst/>
          </a:prstGeom>
          <a:noFill/>
          <a:ln w="114300">
            <a:solidFill>
              <a:schemeClr val="accent2">
                <a:alpha val="28000"/>
              </a:scheme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1828800"/>
            <a:ext cx="728472" cy="292608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41348" y="1453896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>
                <a:alpha val="4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05584" y="1746504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>
                <a:alpha val="4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369820" y="1600200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>
                <a:alpha val="4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69820" y="1892808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>
                <a:alpha val="4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2876" y="1600200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77112" y="1746504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641348" y="1746504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641348" y="2039112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2876" y="1892808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3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1830" y="1642262"/>
            <a:ext cx="373075" cy="373075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1719072"/>
            <a:ext cx="219456" cy="219456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200302" y="1349654"/>
            <a:ext cx="373075" cy="373075"/>
          </a:xfrm>
          <a:prstGeom prst="ellipse">
            <a:avLst/>
          </a:prstGeom>
          <a:solidFill>
            <a:schemeClr val="accent2">
              <a:alpha val="6000"/>
            </a:schemeClr>
          </a:solidFill>
          <a:ln/>
        </p:spPr>
      </p:sp>
      <p:sp>
        <p:nvSpPr>
          <p:cNvPr id="31" name="Text 29"/>
          <p:cNvSpPr/>
          <p:nvPr/>
        </p:nvSpPr>
        <p:spPr>
          <a:xfrm>
            <a:off x="1277112" y="1426464"/>
            <a:ext cx="219456" cy="219456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B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200302" y="1934870"/>
            <a:ext cx="373075" cy="373075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33" name="Text 31"/>
          <p:cNvSpPr/>
          <p:nvPr/>
        </p:nvSpPr>
        <p:spPr>
          <a:xfrm>
            <a:off x="1277112" y="2011680"/>
            <a:ext cx="219456" cy="219456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928774" y="1349654"/>
            <a:ext cx="373075" cy="373075"/>
          </a:xfrm>
          <a:prstGeom prst="ellipse">
            <a:avLst/>
          </a:prstGeom>
          <a:solidFill>
            <a:schemeClr val="accent2">
              <a:alpha val="6000"/>
            </a:schemeClr>
          </a:solidFill>
          <a:ln/>
        </p:spPr>
      </p:sp>
      <p:sp>
        <p:nvSpPr>
          <p:cNvPr id="35" name="Text 33"/>
          <p:cNvSpPr/>
          <p:nvPr/>
        </p:nvSpPr>
        <p:spPr>
          <a:xfrm>
            <a:off x="2005584" y="1426464"/>
            <a:ext cx="219456" cy="219456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928774" y="1934870"/>
            <a:ext cx="373075" cy="373075"/>
          </a:xfrm>
          <a:prstGeom prst="ellipse">
            <a:avLst/>
          </a:prstGeom>
          <a:solidFill>
            <a:schemeClr val="accent2">
              <a:alpha val="6000"/>
            </a:schemeClr>
          </a:solidFill>
          <a:ln/>
        </p:spPr>
      </p:sp>
      <p:sp>
        <p:nvSpPr>
          <p:cNvPr id="37" name="Text 35"/>
          <p:cNvSpPr/>
          <p:nvPr/>
        </p:nvSpPr>
        <p:spPr>
          <a:xfrm>
            <a:off x="2005584" y="2011680"/>
            <a:ext cx="219456" cy="219456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657246" y="1642262"/>
            <a:ext cx="373075" cy="373075"/>
          </a:xfrm>
          <a:prstGeom prst="ellipse">
            <a:avLst/>
          </a:prstGeom>
          <a:solidFill>
            <a:schemeClr val="accent2">
              <a:alpha val="6000"/>
            </a:schemeClr>
          </a:solidFill>
          <a:ln/>
        </p:spPr>
      </p:sp>
      <p:sp>
        <p:nvSpPr>
          <p:cNvPr id="39" name="Text 37"/>
          <p:cNvSpPr/>
          <p:nvPr/>
        </p:nvSpPr>
        <p:spPr>
          <a:xfrm>
            <a:off x="2734056" y="1719072"/>
            <a:ext cx="219456" cy="219456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F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230428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1. Pick AC = 3   |   total 3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278124" y="1325880"/>
            <a:ext cx="2587752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3479292" y="1536192"/>
            <a:ext cx="728472" cy="292608"/>
          </a:xfrm>
          <a:prstGeom prst="line">
            <a:avLst/>
          </a:prstGeom>
          <a:noFill/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936236" y="1536192"/>
            <a:ext cx="0" cy="585216"/>
          </a:xfrm>
          <a:prstGeom prst="line">
            <a:avLst/>
          </a:prstGeom>
          <a:noFill/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36236" y="1536192"/>
            <a:ext cx="728472" cy="292608"/>
          </a:xfrm>
          <a:prstGeom prst="line">
            <a:avLst/>
          </a:prstGeom>
          <a:noFill/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4936236" y="1828800"/>
            <a:ext cx="728472" cy="292608"/>
          </a:xfrm>
          <a:prstGeom prst="line">
            <a:avLst/>
          </a:prstGeom>
          <a:noFill/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07764" y="1536192"/>
            <a:ext cx="728472" cy="0"/>
          </a:xfrm>
          <a:prstGeom prst="line">
            <a:avLst/>
          </a:prstGeom>
          <a:noFill/>
          <a:ln w="76200">
            <a:solidFill>
              <a:schemeClr val="accent1">
                <a:alpha val="18000"/>
              </a:scheme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207764" y="1536192"/>
            <a:ext cx="728472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 flipV="1">
            <a:off x="4207764" y="1536192"/>
            <a:ext cx="728472" cy="585216"/>
          </a:xfrm>
          <a:prstGeom prst="line">
            <a:avLst/>
          </a:prstGeom>
          <a:noFill/>
          <a:ln w="76200">
            <a:solidFill>
              <a:schemeClr val="accent1">
                <a:alpha val="18000"/>
              </a:scheme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4207764" y="1536192"/>
            <a:ext cx="728472" cy="585216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4207764" y="2121408"/>
            <a:ext cx="728472" cy="0"/>
          </a:xfrm>
          <a:prstGeom prst="line">
            <a:avLst/>
          </a:prstGeom>
          <a:noFill/>
          <a:ln w="76200">
            <a:solidFill>
              <a:schemeClr val="accent1">
                <a:alpha val="18000"/>
              </a:scheme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207764" y="2121408"/>
            <a:ext cx="728472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3479292" y="1828800"/>
            <a:ext cx="728472" cy="292608"/>
          </a:xfrm>
          <a:prstGeom prst="line">
            <a:avLst/>
          </a:prstGeom>
          <a:noFill/>
          <a:ln w="114300">
            <a:solidFill>
              <a:schemeClr val="accent2">
                <a:alpha val="28000"/>
              </a:scheme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479292" y="1828800"/>
            <a:ext cx="728472" cy="292608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207764" y="1536192"/>
            <a:ext cx="0" cy="585216"/>
          </a:xfrm>
          <a:prstGeom prst="line">
            <a:avLst/>
          </a:prstGeom>
          <a:noFill/>
          <a:ln w="114300">
            <a:solidFill>
              <a:schemeClr val="accent2">
                <a:alpha val="28000"/>
              </a:scheme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207764" y="1536192"/>
            <a:ext cx="0" cy="585216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733800" y="1600200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>
                <a:alpha val="4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4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826508" y="1746504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>
                <a:alpha val="4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2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190744" y="1600200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>
                <a:alpha val="4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3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190744" y="1892808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>
                <a:alpha val="4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1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462272" y="1453896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2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462272" y="1746504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4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462272" y="2039112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5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733800" y="1892808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3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098036" y="1746504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1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292754" y="1642262"/>
            <a:ext cx="373075" cy="373075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66" name="Text 64"/>
          <p:cNvSpPr/>
          <p:nvPr/>
        </p:nvSpPr>
        <p:spPr>
          <a:xfrm>
            <a:off x="3369564" y="1719072"/>
            <a:ext cx="219456" cy="219456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4021226" y="1349654"/>
            <a:ext cx="373075" cy="373075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68" name="Text 66"/>
          <p:cNvSpPr/>
          <p:nvPr/>
        </p:nvSpPr>
        <p:spPr>
          <a:xfrm>
            <a:off x="4098036" y="1426464"/>
            <a:ext cx="219456" cy="219456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4021226" y="1934870"/>
            <a:ext cx="373075" cy="373075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70" name="Text 68"/>
          <p:cNvSpPr/>
          <p:nvPr/>
        </p:nvSpPr>
        <p:spPr>
          <a:xfrm>
            <a:off x="4098036" y="2011680"/>
            <a:ext cx="219456" cy="219456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4749698" y="1349654"/>
            <a:ext cx="373075" cy="373075"/>
          </a:xfrm>
          <a:prstGeom prst="ellipse">
            <a:avLst/>
          </a:prstGeom>
          <a:solidFill>
            <a:schemeClr val="accent2">
              <a:alpha val="6000"/>
            </a:schemeClr>
          </a:solidFill>
          <a:ln/>
        </p:spPr>
      </p:sp>
      <p:sp>
        <p:nvSpPr>
          <p:cNvPr id="72" name="Text 70"/>
          <p:cNvSpPr/>
          <p:nvPr/>
        </p:nvSpPr>
        <p:spPr>
          <a:xfrm>
            <a:off x="4826508" y="1426464"/>
            <a:ext cx="219456" cy="219456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4749698" y="1934870"/>
            <a:ext cx="373075" cy="373075"/>
          </a:xfrm>
          <a:prstGeom prst="ellipse">
            <a:avLst/>
          </a:prstGeom>
          <a:solidFill>
            <a:schemeClr val="accent2">
              <a:alpha val="6000"/>
            </a:schemeClr>
          </a:solidFill>
          <a:ln/>
        </p:spPr>
      </p:sp>
      <p:sp>
        <p:nvSpPr>
          <p:cNvPr id="74" name="Text 72"/>
          <p:cNvSpPr/>
          <p:nvPr/>
        </p:nvSpPr>
        <p:spPr>
          <a:xfrm>
            <a:off x="4826508" y="2011680"/>
            <a:ext cx="219456" cy="219456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5478170" y="1642262"/>
            <a:ext cx="373075" cy="373075"/>
          </a:xfrm>
          <a:prstGeom prst="ellipse">
            <a:avLst/>
          </a:prstGeom>
          <a:solidFill>
            <a:schemeClr val="accent2">
              <a:alpha val="6000"/>
            </a:schemeClr>
          </a:solidFill>
          <a:ln/>
        </p:spPr>
      </p:sp>
      <p:sp>
        <p:nvSpPr>
          <p:cNvPr id="76" name="Text 74"/>
          <p:cNvSpPr/>
          <p:nvPr/>
        </p:nvSpPr>
        <p:spPr>
          <a:xfrm>
            <a:off x="5554980" y="1719072"/>
            <a:ext cx="219456" cy="219456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F</a:t>
            </a:r>
            <a:endParaRPr lang="en-US" sz="1100" dirty="0"/>
          </a:p>
        </p:txBody>
      </p:sp>
      <p:sp>
        <p:nvSpPr>
          <p:cNvPr id="77" name="Text 75"/>
          <p:cNvSpPr txBox="1"/>
          <p:nvPr/>
        </p:nvSpPr>
        <p:spPr>
          <a:xfrm>
            <a:off x="3369564" y="230428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2. Pick CB = 1   |   total 4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6099048" y="1325880"/>
            <a:ext cx="2587752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flipV="1">
            <a:off x="6300216" y="1536192"/>
            <a:ext cx="728472" cy="292608"/>
          </a:xfrm>
          <a:prstGeom prst="line">
            <a:avLst/>
          </a:prstGeom>
          <a:noFill/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flipV="1">
            <a:off x="7028688" y="1536192"/>
            <a:ext cx="728472" cy="585216"/>
          </a:xfrm>
          <a:prstGeom prst="line">
            <a:avLst/>
          </a:prstGeom>
          <a:noFill/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flipV="1">
            <a:off x="7757160" y="1828800"/>
            <a:ext cx="728472" cy="292608"/>
          </a:xfrm>
          <a:prstGeom prst="line">
            <a:avLst/>
          </a:prstGeom>
          <a:noFill/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028688" y="2121408"/>
            <a:ext cx="728472" cy="0"/>
          </a:xfrm>
          <a:prstGeom prst="line">
            <a:avLst/>
          </a:prstGeom>
          <a:noFill/>
          <a:ln w="76200">
            <a:solidFill>
              <a:schemeClr val="accent1">
                <a:alpha val="18000"/>
              </a:scheme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028688" y="2121408"/>
            <a:ext cx="728472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dash"/>
          </a:ln>
        </p:spPr>
      </p:sp>
      <p:sp>
        <p:nvSpPr>
          <p:cNvPr id="84" name="Shape 82"/>
          <p:cNvSpPr/>
          <p:nvPr/>
        </p:nvSpPr>
        <p:spPr>
          <a:xfrm>
            <a:off x="7757160" y="1536192"/>
            <a:ext cx="0" cy="585216"/>
          </a:xfrm>
          <a:prstGeom prst="line">
            <a:avLst/>
          </a:prstGeom>
          <a:noFill/>
          <a:ln w="76200">
            <a:solidFill>
              <a:schemeClr val="accent1">
                <a:alpha val="18000"/>
              </a:scheme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757160" y="1536192"/>
            <a:ext cx="0" cy="585216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dash"/>
          </a:ln>
        </p:spPr>
      </p:sp>
      <p:sp>
        <p:nvSpPr>
          <p:cNvPr id="86" name="Shape 84"/>
          <p:cNvSpPr/>
          <p:nvPr/>
        </p:nvSpPr>
        <p:spPr>
          <a:xfrm>
            <a:off x="7757160" y="1536192"/>
            <a:ext cx="728472" cy="292608"/>
          </a:xfrm>
          <a:prstGeom prst="line">
            <a:avLst/>
          </a:prstGeom>
          <a:noFill/>
          <a:ln w="76200">
            <a:solidFill>
              <a:schemeClr val="accent1">
                <a:alpha val="18000"/>
              </a:scheme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757160" y="1536192"/>
            <a:ext cx="728472" cy="292608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dash"/>
          </a:ln>
        </p:spPr>
      </p:sp>
      <p:sp>
        <p:nvSpPr>
          <p:cNvPr id="88" name="Shape 86"/>
          <p:cNvSpPr/>
          <p:nvPr/>
        </p:nvSpPr>
        <p:spPr>
          <a:xfrm>
            <a:off x="6300216" y="1828800"/>
            <a:ext cx="728472" cy="292608"/>
          </a:xfrm>
          <a:prstGeom prst="line">
            <a:avLst/>
          </a:prstGeom>
          <a:noFill/>
          <a:ln w="114300">
            <a:solidFill>
              <a:schemeClr val="accent2">
                <a:alpha val="28000"/>
              </a:scheme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300216" y="1828800"/>
            <a:ext cx="728472" cy="292608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028688" y="1536192"/>
            <a:ext cx="0" cy="585216"/>
          </a:xfrm>
          <a:prstGeom prst="line">
            <a:avLst/>
          </a:prstGeom>
          <a:noFill/>
          <a:ln w="114300">
            <a:solidFill>
              <a:schemeClr val="accent2">
                <a:alpha val="28000"/>
              </a:scheme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028688" y="1536192"/>
            <a:ext cx="0" cy="585216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028688" y="1536192"/>
            <a:ext cx="728472" cy="0"/>
          </a:xfrm>
          <a:prstGeom prst="line">
            <a:avLst/>
          </a:prstGeom>
          <a:noFill/>
          <a:ln w="114300">
            <a:solidFill>
              <a:schemeClr val="accent2">
                <a:alpha val="28000"/>
              </a:scheme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028688" y="1536192"/>
            <a:ext cx="728472" cy="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554724" y="1600200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>
                <a:alpha val="4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4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7283196" y="1746504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>
                <a:alpha val="4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4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8011668" y="1892808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>
                <a:alpha val="4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1</a:t>
            </a:r>
            <a:endParaRPr lang="en-US" sz="1000" dirty="0"/>
          </a:p>
        </p:txBody>
      </p:sp>
      <p:sp>
        <p:nvSpPr>
          <p:cNvPr id="97" name="Text 95"/>
          <p:cNvSpPr/>
          <p:nvPr/>
        </p:nvSpPr>
        <p:spPr>
          <a:xfrm>
            <a:off x="7283196" y="2039112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5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7647432" y="1746504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2</a:t>
            </a:r>
            <a:endParaRPr lang="en-US" sz="1000" dirty="0"/>
          </a:p>
        </p:txBody>
      </p:sp>
      <p:sp>
        <p:nvSpPr>
          <p:cNvPr id="99" name="Text 97"/>
          <p:cNvSpPr/>
          <p:nvPr/>
        </p:nvSpPr>
        <p:spPr>
          <a:xfrm>
            <a:off x="8011668" y="1600200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3</a:t>
            </a:r>
            <a:endParaRPr lang="en-US" sz="1000" dirty="0"/>
          </a:p>
        </p:txBody>
      </p:sp>
      <p:sp>
        <p:nvSpPr>
          <p:cNvPr id="100" name="Text 98"/>
          <p:cNvSpPr/>
          <p:nvPr/>
        </p:nvSpPr>
        <p:spPr>
          <a:xfrm>
            <a:off x="6554724" y="1892808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3</a:t>
            </a:r>
            <a:endParaRPr lang="en-US" sz="1000" dirty="0"/>
          </a:p>
        </p:txBody>
      </p:sp>
      <p:sp>
        <p:nvSpPr>
          <p:cNvPr id="101" name="Text 99"/>
          <p:cNvSpPr/>
          <p:nvPr/>
        </p:nvSpPr>
        <p:spPr>
          <a:xfrm>
            <a:off x="6918960" y="1746504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1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7283196" y="1453896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2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6113678" y="1642262"/>
            <a:ext cx="373075" cy="373075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104" name="Text 102"/>
          <p:cNvSpPr/>
          <p:nvPr/>
        </p:nvSpPr>
        <p:spPr>
          <a:xfrm>
            <a:off x="6190488" y="1719072"/>
            <a:ext cx="219456" cy="219456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</a:t>
            </a: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6842150" y="1349654"/>
            <a:ext cx="373075" cy="373075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106" name="Text 104"/>
          <p:cNvSpPr/>
          <p:nvPr/>
        </p:nvSpPr>
        <p:spPr>
          <a:xfrm>
            <a:off x="6918960" y="1426464"/>
            <a:ext cx="219456" cy="219456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</a:t>
            </a:r>
            <a:endParaRPr lang="en-US" sz="1100" dirty="0"/>
          </a:p>
        </p:txBody>
      </p:sp>
      <p:sp>
        <p:nvSpPr>
          <p:cNvPr id="107" name="Shape 105"/>
          <p:cNvSpPr/>
          <p:nvPr/>
        </p:nvSpPr>
        <p:spPr>
          <a:xfrm>
            <a:off x="6842150" y="1934870"/>
            <a:ext cx="373075" cy="373075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108" name="Text 106"/>
          <p:cNvSpPr/>
          <p:nvPr/>
        </p:nvSpPr>
        <p:spPr>
          <a:xfrm>
            <a:off x="6918960" y="2011680"/>
            <a:ext cx="219456" cy="219456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</a:t>
            </a:r>
            <a:endParaRPr lang="en-US" sz="1100" dirty="0"/>
          </a:p>
        </p:txBody>
      </p:sp>
      <p:sp>
        <p:nvSpPr>
          <p:cNvPr id="109" name="Shape 107"/>
          <p:cNvSpPr/>
          <p:nvPr/>
        </p:nvSpPr>
        <p:spPr>
          <a:xfrm>
            <a:off x="7570622" y="1349654"/>
            <a:ext cx="373075" cy="373075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110" name="Text 108"/>
          <p:cNvSpPr/>
          <p:nvPr/>
        </p:nvSpPr>
        <p:spPr>
          <a:xfrm>
            <a:off x="7647432" y="1426464"/>
            <a:ext cx="219456" cy="219456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</a:t>
            </a:r>
            <a:endParaRPr lang="en-US" sz="1100" dirty="0"/>
          </a:p>
        </p:txBody>
      </p:sp>
      <p:sp>
        <p:nvSpPr>
          <p:cNvPr id="111" name="Shape 109"/>
          <p:cNvSpPr/>
          <p:nvPr/>
        </p:nvSpPr>
        <p:spPr>
          <a:xfrm>
            <a:off x="7570622" y="1934870"/>
            <a:ext cx="373075" cy="373075"/>
          </a:xfrm>
          <a:prstGeom prst="ellipse">
            <a:avLst/>
          </a:prstGeom>
          <a:solidFill>
            <a:schemeClr val="accent2">
              <a:alpha val="6000"/>
            </a:schemeClr>
          </a:solidFill>
          <a:ln/>
        </p:spPr>
      </p:sp>
      <p:sp>
        <p:nvSpPr>
          <p:cNvPr id="112" name="Text 110"/>
          <p:cNvSpPr/>
          <p:nvPr/>
        </p:nvSpPr>
        <p:spPr>
          <a:xfrm>
            <a:off x="7647432" y="2011680"/>
            <a:ext cx="219456" cy="219456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</a:t>
            </a:r>
            <a:endParaRPr lang="en-US" sz="1100" dirty="0"/>
          </a:p>
        </p:txBody>
      </p:sp>
      <p:sp>
        <p:nvSpPr>
          <p:cNvPr id="113" name="Shape 111"/>
          <p:cNvSpPr/>
          <p:nvPr/>
        </p:nvSpPr>
        <p:spPr>
          <a:xfrm>
            <a:off x="8299094" y="1642262"/>
            <a:ext cx="373075" cy="373075"/>
          </a:xfrm>
          <a:prstGeom prst="ellipse">
            <a:avLst/>
          </a:prstGeom>
          <a:solidFill>
            <a:schemeClr val="accent2">
              <a:alpha val="6000"/>
            </a:schemeClr>
          </a:solidFill>
          <a:ln/>
        </p:spPr>
      </p:sp>
      <p:sp>
        <p:nvSpPr>
          <p:cNvPr id="114" name="Text 112"/>
          <p:cNvSpPr/>
          <p:nvPr/>
        </p:nvSpPr>
        <p:spPr>
          <a:xfrm>
            <a:off x="8375904" y="1719072"/>
            <a:ext cx="219456" cy="219456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F</a:t>
            </a:r>
            <a:endParaRPr lang="en-US" sz="1100" dirty="0"/>
          </a:p>
        </p:txBody>
      </p:sp>
      <p:sp>
        <p:nvSpPr>
          <p:cNvPr id="115" name="Text 113"/>
          <p:cNvSpPr txBox="1"/>
          <p:nvPr/>
        </p:nvSpPr>
        <p:spPr>
          <a:xfrm>
            <a:off x="6190488" y="230428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3. Pick BD = 2   |   total 6</a:t>
            </a:r>
            <a:endParaRPr lang="en-US" sz="1200" dirty="0"/>
          </a:p>
        </p:txBody>
      </p:sp>
      <p:sp>
        <p:nvSpPr>
          <p:cNvPr id="116" name="Shape 114"/>
          <p:cNvSpPr/>
          <p:nvPr/>
        </p:nvSpPr>
        <p:spPr>
          <a:xfrm>
            <a:off x="457200" y="2761488"/>
            <a:ext cx="2587752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 flipV="1">
            <a:off x="658368" y="2971800"/>
            <a:ext cx="728472" cy="292608"/>
          </a:xfrm>
          <a:prstGeom prst="line">
            <a:avLst/>
          </a:prstGeom>
          <a:noFill/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 flipV="1">
            <a:off x="1386840" y="2971800"/>
            <a:ext cx="728472" cy="585216"/>
          </a:xfrm>
          <a:prstGeom prst="line">
            <a:avLst/>
          </a:prstGeom>
          <a:noFill/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386840" y="3557016"/>
            <a:ext cx="728472" cy="0"/>
          </a:xfrm>
          <a:prstGeom prst="line">
            <a:avLst/>
          </a:prstGeom>
          <a:noFill/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2115312" y="2971800"/>
            <a:ext cx="728472" cy="292608"/>
          </a:xfrm>
          <a:prstGeom prst="line">
            <a:avLst/>
          </a:prstGeom>
          <a:noFill/>
          <a:ln w="76200">
            <a:solidFill>
              <a:schemeClr val="accent1">
                <a:alpha val="18000"/>
              </a:scheme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2115312" y="2971800"/>
            <a:ext cx="728472" cy="292608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dash"/>
          </a:ln>
        </p:spPr>
      </p:sp>
      <p:sp>
        <p:nvSpPr>
          <p:cNvPr id="122" name="Shape 120"/>
          <p:cNvSpPr/>
          <p:nvPr/>
        </p:nvSpPr>
        <p:spPr>
          <a:xfrm flipV="1">
            <a:off x="2115312" y="3264408"/>
            <a:ext cx="728472" cy="292608"/>
          </a:xfrm>
          <a:prstGeom prst="line">
            <a:avLst/>
          </a:prstGeom>
          <a:noFill/>
          <a:ln w="76200">
            <a:solidFill>
              <a:schemeClr val="accent1">
                <a:alpha val="18000"/>
              </a:scheme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 flipV="1">
            <a:off x="2115312" y="3264408"/>
            <a:ext cx="728472" cy="292608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dash"/>
          </a:ln>
        </p:spPr>
      </p:sp>
      <p:sp>
        <p:nvSpPr>
          <p:cNvPr id="124" name="Shape 122"/>
          <p:cNvSpPr/>
          <p:nvPr/>
        </p:nvSpPr>
        <p:spPr>
          <a:xfrm>
            <a:off x="658368" y="3264408"/>
            <a:ext cx="728472" cy="292608"/>
          </a:xfrm>
          <a:prstGeom prst="line">
            <a:avLst/>
          </a:prstGeom>
          <a:noFill/>
          <a:ln w="114300">
            <a:solidFill>
              <a:schemeClr val="accent2">
                <a:alpha val="28000"/>
              </a:scheme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58368" y="3264408"/>
            <a:ext cx="728472" cy="292608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386840" y="2971800"/>
            <a:ext cx="0" cy="585216"/>
          </a:xfrm>
          <a:prstGeom prst="line">
            <a:avLst/>
          </a:prstGeom>
          <a:noFill/>
          <a:ln w="114300">
            <a:solidFill>
              <a:schemeClr val="accent2">
                <a:alpha val="28000"/>
              </a:scheme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1386840" y="2971800"/>
            <a:ext cx="0" cy="585216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386840" y="2971800"/>
            <a:ext cx="728472" cy="0"/>
          </a:xfrm>
          <a:prstGeom prst="line">
            <a:avLst/>
          </a:prstGeom>
          <a:noFill/>
          <a:ln w="114300">
            <a:solidFill>
              <a:schemeClr val="accent2">
                <a:alpha val="28000"/>
              </a:scheme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386840" y="2971800"/>
            <a:ext cx="728472" cy="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2115312" y="2971800"/>
            <a:ext cx="0" cy="585216"/>
          </a:xfrm>
          <a:prstGeom prst="line">
            <a:avLst/>
          </a:prstGeom>
          <a:noFill/>
          <a:ln w="114300">
            <a:solidFill>
              <a:schemeClr val="accent2">
                <a:alpha val="28000"/>
              </a:scheme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2115312" y="2971800"/>
            <a:ext cx="0" cy="585216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912876" y="3035808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>
                <a:alpha val="4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4</a:t>
            </a:r>
            <a:endParaRPr lang="en-US" sz="1000" dirty="0"/>
          </a:p>
        </p:txBody>
      </p:sp>
      <p:sp>
        <p:nvSpPr>
          <p:cNvPr id="133" name="Text 131"/>
          <p:cNvSpPr/>
          <p:nvPr/>
        </p:nvSpPr>
        <p:spPr>
          <a:xfrm>
            <a:off x="1641348" y="3182112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>
                <a:alpha val="4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4</a:t>
            </a:r>
            <a:endParaRPr lang="en-US" sz="1000" dirty="0"/>
          </a:p>
        </p:txBody>
      </p:sp>
      <p:sp>
        <p:nvSpPr>
          <p:cNvPr id="134" name="Text 132"/>
          <p:cNvSpPr/>
          <p:nvPr/>
        </p:nvSpPr>
        <p:spPr>
          <a:xfrm>
            <a:off x="1641348" y="3474720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>
                <a:alpha val="4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5</a:t>
            </a:r>
            <a:endParaRPr lang="en-US" sz="1000" dirty="0"/>
          </a:p>
        </p:txBody>
      </p:sp>
      <p:sp>
        <p:nvSpPr>
          <p:cNvPr id="135" name="Text 133"/>
          <p:cNvSpPr/>
          <p:nvPr/>
        </p:nvSpPr>
        <p:spPr>
          <a:xfrm>
            <a:off x="2369820" y="3035808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3</a:t>
            </a:r>
            <a:endParaRPr lang="en-US" sz="1000" dirty="0"/>
          </a:p>
        </p:txBody>
      </p:sp>
      <p:sp>
        <p:nvSpPr>
          <p:cNvPr id="136" name="Text 134"/>
          <p:cNvSpPr/>
          <p:nvPr/>
        </p:nvSpPr>
        <p:spPr>
          <a:xfrm>
            <a:off x="2369820" y="3328416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</a:t>
            </a:r>
            <a:endParaRPr lang="en-US" sz="1000" dirty="0"/>
          </a:p>
        </p:txBody>
      </p:sp>
      <p:sp>
        <p:nvSpPr>
          <p:cNvPr id="137" name="Text 135"/>
          <p:cNvSpPr/>
          <p:nvPr/>
        </p:nvSpPr>
        <p:spPr>
          <a:xfrm>
            <a:off x="912876" y="3328416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3</a:t>
            </a:r>
            <a:endParaRPr lang="en-US" sz="1000" dirty="0"/>
          </a:p>
        </p:txBody>
      </p:sp>
      <p:sp>
        <p:nvSpPr>
          <p:cNvPr id="138" name="Text 136"/>
          <p:cNvSpPr/>
          <p:nvPr/>
        </p:nvSpPr>
        <p:spPr>
          <a:xfrm>
            <a:off x="1277112" y="3182112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1</a:t>
            </a:r>
            <a:endParaRPr lang="en-US" sz="1000" dirty="0"/>
          </a:p>
        </p:txBody>
      </p:sp>
      <p:sp>
        <p:nvSpPr>
          <p:cNvPr id="139" name="Text 137"/>
          <p:cNvSpPr/>
          <p:nvPr/>
        </p:nvSpPr>
        <p:spPr>
          <a:xfrm>
            <a:off x="1641348" y="2889504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2</a:t>
            </a:r>
            <a:endParaRPr lang="en-US" sz="1000" dirty="0"/>
          </a:p>
        </p:txBody>
      </p:sp>
      <p:sp>
        <p:nvSpPr>
          <p:cNvPr id="140" name="Text 138"/>
          <p:cNvSpPr/>
          <p:nvPr/>
        </p:nvSpPr>
        <p:spPr>
          <a:xfrm>
            <a:off x="2005584" y="3182112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2</a:t>
            </a:r>
            <a:endParaRPr lang="en-US" sz="1000" dirty="0"/>
          </a:p>
        </p:txBody>
      </p:sp>
      <p:sp>
        <p:nvSpPr>
          <p:cNvPr id="141" name="Shape 139"/>
          <p:cNvSpPr/>
          <p:nvPr/>
        </p:nvSpPr>
        <p:spPr>
          <a:xfrm>
            <a:off x="471830" y="3077870"/>
            <a:ext cx="373075" cy="373075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142" name="Text 140"/>
          <p:cNvSpPr/>
          <p:nvPr/>
        </p:nvSpPr>
        <p:spPr>
          <a:xfrm>
            <a:off x="548640" y="3154680"/>
            <a:ext cx="219456" cy="219456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</a:t>
            </a:r>
            <a:endParaRPr lang="en-US" sz="1100" dirty="0"/>
          </a:p>
        </p:txBody>
      </p:sp>
      <p:sp>
        <p:nvSpPr>
          <p:cNvPr id="143" name="Shape 141"/>
          <p:cNvSpPr/>
          <p:nvPr/>
        </p:nvSpPr>
        <p:spPr>
          <a:xfrm>
            <a:off x="1200302" y="2785262"/>
            <a:ext cx="373075" cy="373075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144" name="Text 142"/>
          <p:cNvSpPr/>
          <p:nvPr/>
        </p:nvSpPr>
        <p:spPr>
          <a:xfrm>
            <a:off x="1277112" y="2862072"/>
            <a:ext cx="219456" cy="219456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</a:t>
            </a:r>
            <a:endParaRPr lang="en-US" sz="1100" dirty="0"/>
          </a:p>
        </p:txBody>
      </p:sp>
      <p:sp>
        <p:nvSpPr>
          <p:cNvPr id="145" name="Shape 143"/>
          <p:cNvSpPr/>
          <p:nvPr/>
        </p:nvSpPr>
        <p:spPr>
          <a:xfrm>
            <a:off x="1200302" y="3370478"/>
            <a:ext cx="373075" cy="373075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146" name="Text 144"/>
          <p:cNvSpPr/>
          <p:nvPr/>
        </p:nvSpPr>
        <p:spPr>
          <a:xfrm>
            <a:off x="1277112" y="3447288"/>
            <a:ext cx="219456" cy="219456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</a:t>
            </a:r>
            <a:endParaRPr lang="en-US" sz="1100" dirty="0"/>
          </a:p>
        </p:txBody>
      </p:sp>
      <p:sp>
        <p:nvSpPr>
          <p:cNvPr id="147" name="Shape 145"/>
          <p:cNvSpPr/>
          <p:nvPr/>
        </p:nvSpPr>
        <p:spPr>
          <a:xfrm>
            <a:off x="1928774" y="2785262"/>
            <a:ext cx="373075" cy="373075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148" name="Text 146"/>
          <p:cNvSpPr/>
          <p:nvPr/>
        </p:nvSpPr>
        <p:spPr>
          <a:xfrm>
            <a:off x="2005584" y="2862072"/>
            <a:ext cx="219456" cy="219456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</a:t>
            </a:r>
            <a:endParaRPr lang="en-US" sz="1100" dirty="0"/>
          </a:p>
        </p:txBody>
      </p:sp>
      <p:sp>
        <p:nvSpPr>
          <p:cNvPr id="149" name="Shape 147"/>
          <p:cNvSpPr/>
          <p:nvPr/>
        </p:nvSpPr>
        <p:spPr>
          <a:xfrm>
            <a:off x="1928774" y="3370478"/>
            <a:ext cx="373075" cy="373075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150" name="Text 148"/>
          <p:cNvSpPr/>
          <p:nvPr/>
        </p:nvSpPr>
        <p:spPr>
          <a:xfrm>
            <a:off x="2005584" y="3447288"/>
            <a:ext cx="219456" cy="219456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E</a:t>
            </a:r>
            <a:endParaRPr lang="en-US" sz="1100" dirty="0"/>
          </a:p>
        </p:txBody>
      </p:sp>
      <p:sp>
        <p:nvSpPr>
          <p:cNvPr id="151" name="Shape 149"/>
          <p:cNvSpPr/>
          <p:nvPr/>
        </p:nvSpPr>
        <p:spPr>
          <a:xfrm>
            <a:off x="2657246" y="3077870"/>
            <a:ext cx="373075" cy="373075"/>
          </a:xfrm>
          <a:prstGeom prst="ellipse">
            <a:avLst/>
          </a:prstGeom>
          <a:solidFill>
            <a:schemeClr val="accent2">
              <a:alpha val="6000"/>
            </a:schemeClr>
          </a:solidFill>
          <a:ln/>
        </p:spPr>
      </p:sp>
      <p:sp>
        <p:nvSpPr>
          <p:cNvPr id="152" name="Text 150"/>
          <p:cNvSpPr/>
          <p:nvPr/>
        </p:nvSpPr>
        <p:spPr>
          <a:xfrm>
            <a:off x="2734056" y="3154680"/>
            <a:ext cx="219456" cy="219456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F</a:t>
            </a:r>
            <a:endParaRPr lang="en-US" sz="1100" dirty="0"/>
          </a:p>
        </p:txBody>
      </p:sp>
      <p:sp>
        <p:nvSpPr>
          <p:cNvPr id="153" name="Text 151"/>
          <p:cNvSpPr txBox="1"/>
          <p:nvPr/>
        </p:nvSpPr>
        <p:spPr>
          <a:xfrm>
            <a:off x="548640" y="3739896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4. Pick DE = 2   |   total 8</a:t>
            </a:r>
            <a:endParaRPr lang="en-US" sz="1200" dirty="0"/>
          </a:p>
        </p:txBody>
      </p:sp>
      <p:sp>
        <p:nvSpPr>
          <p:cNvPr id="154" name="Shape 152"/>
          <p:cNvSpPr/>
          <p:nvPr/>
        </p:nvSpPr>
        <p:spPr>
          <a:xfrm>
            <a:off x="3278124" y="2761488"/>
            <a:ext cx="2587752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 flipV="1">
            <a:off x="3479292" y="2971800"/>
            <a:ext cx="728472" cy="292608"/>
          </a:xfrm>
          <a:prstGeom prst="line">
            <a:avLst/>
          </a:prstGeom>
          <a:noFill/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 flipV="1">
            <a:off x="4207764" y="2971800"/>
            <a:ext cx="728472" cy="585216"/>
          </a:xfrm>
          <a:prstGeom prst="line">
            <a:avLst/>
          </a:prstGeom>
          <a:noFill/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4207764" y="3557016"/>
            <a:ext cx="728472" cy="0"/>
          </a:xfrm>
          <a:prstGeom prst="line">
            <a:avLst/>
          </a:prstGeom>
          <a:noFill/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4936236" y="2971800"/>
            <a:ext cx="728472" cy="292608"/>
          </a:xfrm>
          <a:prstGeom prst="line">
            <a:avLst/>
          </a:prstGeom>
          <a:noFill/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3479292" y="3264408"/>
            <a:ext cx="728472" cy="292608"/>
          </a:xfrm>
          <a:prstGeom prst="line">
            <a:avLst/>
          </a:prstGeom>
          <a:noFill/>
          <a:ln w="114300">
            <a:solidFill>
              <a:schemeClr val="accent2">
                <a:alpha val="28000"/>
              </a:scheme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3479292" y="3264408"/>
            <a:ext cx="728472" cy="292608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4207764" y="2971800"/>
            <a:ext cx="0" cy="585216"/>
          </a:xfrm>
          <a:prstGeom prst="line">
            <a:avLst/>
          </a:prstGeom>
          <a:noFill/>
          <a:ln w="114300">
            <a:solidFill>
              <a:schemeClr val="accent2">
                <a:alpha val="28000"/>
              </a:scheme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4207764" y="2971800"/>
            <a:ext cx="0" cy="585216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4207764" y="2971800"/>
            <a:ext cx="728472" cy="0"/>
          </a:xfrm>
          <a:prstGeom prst="line">
            <a:avLst/>
          </a:prstGeom>
          <a:noFill/>
          <a:ln w="114300">
            <a:solidFill>
              <a:schemeClr val="accent2">
                <a:alpha val="28000"/>
              </a:scheme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4207764" y="2971800"/>
            <a:ext cx="728472" cy="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4936236" y="2971800"/>
            <a:ext cx="0" cy="585216"/>
          </a:xfrm>
          <a:prstGeom prst="line">
            <a:avLst/>
          </a:prstGeom>
          <a:noFill/>
          <a:ln w="114300">
            <a:solidFill>
              <a:schemeClr val="accent2">
                <a:alpha val="28000"/>
              </a:scheme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4936236" y="2971800"/>
            <a:ext cx="0" cy="585216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 flipV="1">
            <a:off x="4936236" y="3264408"/>
            <a:ext cx="728472" cy="292608"/>
          </a:xfrm>
          <a:prstGeom prst="line">
            <a:avLst/>
          </a:prstGeom>
          <a:noFill/>
          <a:ln w="114300">
            <a:solidFill>
              <a:schemeClr val="accent2">
                <a:alpha val="28000"/>
              </a:scheme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 flipV="1">
            <a:off x="4936236" y="3264408"/>
            <a:ext cx="728472" cy="292608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3733800" y="3035808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>
                <a:alpha val="4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4</a:t>
            </a:r>
            <a:endParaRPr lang="en-US" sz="1000" dirty="0"/>
          </a:p>
        </p:txBody>
      </p:sp>
      <p:sp>
        <p:nvSpPr>
          <p:cNvPr id="170" name="Text 168"/>
          <p:cNvSpPr/>
          <p:nvPr/>
        </p:nvSpPr>
        <p:spPr>
          <a:xfrm>
            <a:off x="4462272" y="3182112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>
                <a:alpha val="4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4</a:t>
            </a:r>
            <a:endParaRPr lang="en-US" sz="1000" dirty="0"/>
          </a:p>
        </p:txBody>
      </p:sp>
      <p:sp>
        <p:nvSpPr>
          <p:cNvPr id="171" name="Text 169"/>
          <p:cNvSpPr/>
          <p:nvPr/>
        </p:nvSpPr>
        <p:spPr>
          <a:xfrm>
            <a:off x="4462272" y="3474720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>
                <a:alpha val="4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5</a:t>
            </a:r>
            <a:endParaRPr lang="en-US" sz="1000" dirty="0"/>
          </a:p>
        </p:txBody>
      </p:sp>
      <p:sp>
        <p:nvSpPr>
          <p:cNvPr id="172" name="Text 170"/>
          <p:cNvSpPr/>
          <p:nvPr/>
        </p:nvSpPr>
        <p:spPr>
          <a:xfrm>
            <a:off x="5190744" y="3035808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>
                <a:alpha val="4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3</a:t>
            </a:r>
            <a:endParaRPr lang="en-US" sz="1000" dirty="0"/>
          </a:p>
        </p:txBody>
      </p:sp>
      <p:sp>
        <p:nvSpPr>
          <p:cNvPr id="173" name="Text 171"/>
          <p:cNvSpPr/>
          <p:nvPr/>
        </p:nvSpPr>
        <p:spPr>
          <a:xfrm>
            <a:off x="3733800" y="3328416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3</a:t>
            </a:r>
            <a:endParaRPr lang="en-US" sz="1000" dirty="0"/>
          </a:p>
        </p:txBody>
      </p:sp>
      <p:sp>
        <p:nvSpPr>
          <p:cNvPr id="174" name="Text 172"/>
          <p:cNvSpPr/>
          <p:nvPr/>
        </p:nvSpPr>
        <p:spPr>
          <a:xfrm>
            <a:off x="4098036" y="3182112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1</a:t>
            </a:r>
            <a:endParaRPr lang="en-US" sz="1000" dirty="0"/>
          </a:p>
        </p:txBody>
      </p:sp>
      <p:sp>
        <p:nvSpPr>
          <p:cNvPr id="175" name="Text 173"/>
          <p:cNvSpPr/>
          <p:nvPr/>
        </p:nvSpPr>
        <p:spPr>
          <a:xfrm>
            <a:off x="4462272" y="2889504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2</a:t>
            </a:r>
            <a:endParaRPr lang="en-US" sz="1000" dirty="0"/>
          </a:p>
        </p:txBody>
      </p:sp>
      <p:sp>
        <p:nvSpPr>
          <p:cNvPr id="176" name="Text 174"/>
          <p:cNvSpPr/>
          <p:nvPr/>
        </p:nvSpPr>
        <p:spPr>
          <a:xfrm>
            <a:off x="4826508" y="3182112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2</a:t>
            </a:r>
            <a:endParaRPr lang="en-US" sz="1000" dirty="0"/>
          </a:p>
        </p:txBody>
      </p:sp>
      <p:sp>
        <p:nvSpPr>
          <p:cNvPr id="177" name="Text 175"/>
          <p:cNvSpPr/>
          <p:nvPr/>
        </p:nvSpPr>
        <p:spPr>
          <a:xfrm>
            <a:off x="5190744" y="3328416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1</a:t>
            </a:r>
            <a:endParaRPr lang="en-US" sz="1000" dirty="0"/>
          </a:p>
        </p:txBody>
      </p:sp>
      <p:sp>
        <p:nvSpPr>
          <p:cNvPr id="178" name="Shape 176"/>
          <p:cNvSpPr/>
          <p:nvPr/>
        </p:nvSpPr>
        <p:spPr>
          <a:xfrm>
            <a:off x="3292754" y="3077870"/>
            <a:ext cx="373075" cy="373075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179" name="Text 177"/>
          <p:cNvSpPr/>
          <p:nvPr/>
        </p:nvSpPr>
        <p:spPr>
          <a:xfrm>
            <a:off x="3369564" y="3154680"/>
            <a:ext cx="219456" cy="219456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</a:t>
            </a:r>
            <a:endParaRPr lang="en-US" sz="1100" dirty="0"/>
          </a:p>
        </p:txBody>
      </p:sp>
      <p:sp>
        <p:nvSpPr>
          <p:cNvPr id="180" name="Shape 178"/>
          <p:cNvSpPr/>
          <p:nvPr/>
        </p:nvSpPr>
        <p:spPr>
          <a:xfrm>
            <a:off x="4021226" y="2785262"/>
            <a:ext cx="373075" cy="373075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181" name="Text 179"/>
          <p:cNvSpPr/>
          <p:nvPr/>
        </p:nvSpPr>
        <p:spPr>
          <a:xfrm>
            <a:off x="4098036" y="2862072"/>
            <a:ext cx="219456" cy="219456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</a:t>
            </a:r>
            <a:endParaRPr lang="en-US" sz="1100" dirty="0"/>
          </a:p>
        </p:txBody>
      </p:sp>
      <p:sp>
        <p:nvSpPr>
          <p:cNvPr id="182" name="Shape 180"/>
          <p:cNvSpPr/>
          <p:nvPr/>
        </p:nvSpPr>
        <p:spPr>
          <a:xfrm>
            <a:off x="4021226" y="3370478"/>
            <a:ext cx="373075" cy="373075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183" name="Text 181"/>
          <p:cNvSpPr/>
          <p:nvPr/>
        </p:nvSpPr>
        <p:spPr>
          <a:xfrm>
            <a:off x="4098036" y="3447288"/>
            <a:ext cx="219456" cy="219456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</a:t>
            </a:r>
            <a:endParaRPr lang="en-US" sz="1100" dirty="0"/>
          </a:p>
        </p:txBody>
      </p:sp>
      <p:sp>
        <p:nvSpPr>
          <p:cNvPr id="184" name="Shape 182"/>
          <p:cNvSpPr/>
          <p:nvPr/>
        </p:nvSpPr>
        <p:spPr>
          <a:xfrm>
            <a:off x="4749698" y="2785262"/>
            <a:ext cx="373075" cy="373075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185" name="Text 183"/>
          <p:cNvSpPr/>
          <p:nvPr/>
        </p:nvSpPr>
        <p:spPr>
          <a:xfrm>
            <a:off x="4826508" y="2862072"/>
            <a:ext cx="219456" cy="219456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</a:t>
            </a:r>
            <a:endParaRPr lang="en-US" sz="1100" dirty="0"/>
          </a:p>
        </p:txBody>
      </p:sp>
      <p:sp>
        <p:nvSpPr>
          <p:cNvPr id="186" name="Shape 184"/>
          <p:cNvSpPr/>
          <p:nvPr/>
        </p:nvSpPr>
        <p:spPr>
          <a:xfrm>
            <a:off x="4749698" y="3370478"/>
            <a:ext cx="373075" cy="373075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187" name="Text 185"/>
          <p:cNvSpPr/>
          <p:nvPr/>
        </p:nvSpPr>
        <p:spPr>
          <a:xfrm>
            <a:off x="4826508" y="3447288"/>
            <a:ext cx="219456" cy="219456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E</a:t>
            </a:r>
            <a:endParaRPr lang="en-US" sz="1100" dirty="0"/>
          </a:p>
        </p:txBody>
      </p:sp>
      <p:sp>
        <p:nvSpPr>
          <p:cNvPr id="188" name="Shape 186"/>
          <p:cNvSpPr/>
          <p:nvPr/>
        </p:nvSpPr>
        <p:spPr>
          <a:xfrm>
            <a:off x="5478170" y="3077870"/>
            <a:ext cx="373075" cy="373075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189" name="Text 187"/>
          <p:cNvSpPr/>
          <p:nvPr/>
        </p:nvSpPr>
        <p:spPr>
          <a:xfrm>
            <a:off x="5554980" y="3154680"/>
            <a:ext cx="219456" cy="219456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F</a:t>
            </a:r>
            <a:endParaRPr lang="en-US" sz="1100" dirty="0"/>
          </a:p>
        </p:txBody>
      </p:sp>
      <p:sp>
        <p:nvSpPr>
          <p:cNvPr id="190" name="Text 188"/>
          <p:cNvSpPr txBox="1"/>
          <p:nvPr/>
        </p:nvSpPr>
        <p:spPr>
          <a:xfrm>
            <a:off x="3369564" y="3739896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5. Pick EF = 1   |   total 9</a:t>
            </a:r>
            <a:endParaRPr lang="en-US" sz="1200" dirty="0"/>
          </a:p>
        </p:txBody>
      </p:sp>
      <p:sp>
        <p:nvSpPr>
          <p:cNvPr id="191" name="Shape 189"/>
          <p:cNvSpPr/>
          <p:nvPr/>
        </p:nvSpPr>
        <p:spPr>
          <a:xfrm>
            <a:off x="6099048" y="2761488"/>
            <a:ext cx="2587752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 flipV="1">
            <a:off x="6300216" y="2971800"/>
            <a:ext cx="728472" cy="292608"/>
          </a:xfrm>
          <a:prstGeom prst="line">
            <a:avLst/>
          </a:prstGeom>
          <a:noFill/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 flipV="1">
            <a:off x="7028688" y="2971800"/>
            <a:ext cx="728472" cy="585216"/>
          </a:xfrm>
          <a:prstGeom prst="line">
            <a:avLst/>
          </a:prstGeom>
          <a:noFill/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028688" y="3557016"/>
            <a:ext cx="728472" cy="0"/>
          </a:xfrm>
          <a:prstGeom prst="line">
            <a:avLst/>
          </a:prstGeom>
          <a:noFill/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757160" y="2971800"/>
            <a:ext cx="728472" cy="292608"/>
          </a:xfrm>
          <a:prstGeom prst="line">
            <a:avLst/>
          </a:prstGeom>
          <a:noFill/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6300216" y="3264408"/>
            <a:ext cx="728472" cy="292608"/>
          </a:xfrm>
          <a:prstGeom prst="line">
            <a:avLst/>
          </a:prstGeom>
          <a:noFill/>
          <a:ln w="114300">
            <a:solidFill>
              <a:schemeClr val="accent2">
                <a:alpha val="28000"/>
              </a:scheme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6300216" y="3264408"/>
            <a:ext cx="728472" cy="292608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028688" y="2971800"/>
            <a:ext cx="0" cy="585216"/>
          </a:xfrm>
          <a:prstGeom prst="line">
            <a:avLst/>
          </a:prstGeom>
          <a:noFill/>
          <a:ln w="114300">
            <a:solidFill>
              <a:schemeClr val="accent2">
                <a:alpha val="28000"/>
              </a:scheme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028688" y="2971800"/>
            <a:ext cx="0" cy="585216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028688" y="2971800"/>
            <a:ext cx="728472" cy="0"/>
          </a:xfrm>
          <a:prstGeom prst="line">
            <a:avLst/>
          </a:prstGeom>
          <a:noFill/>
          <a:ln w="114300">
            <a:solidFill>
              <a:schemeClr val="accent2">
                <a:alpha val="28000"/>
              </a:scheme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028688" y="2971800"/>
            <a:ext cx="728472" cy="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757160" y="2971800"/>
            <a:ext cx="0" cy="585216"/>
          </a:xfrm>
          <a:prstGeom prst="line">
            <a:avLst/>
          </a:prstGeom>
          <a:noFill/>
          <a:ln w="114300">
            <a:solidFill>
              <a:schemeClr val="accent2">
                <a:alpha val="28000"/>
              </a:scheme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757160" y="2971800"/>
            <a:ext cx="0" cy="585216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 flipV="1">
            <a:off x="7757160" y="3264408"/>
            <a:ext cx="728472" cy="292608"/>
          </a:xfrm>
          <a:prstGeom prst="line">
            <a:avLst/>
          </a:prstGeom>
          <a:noFill/>
          <a:ln w="114300">
            <a:solidFill>
              <a:schemeClr val="accent2">
                <a:alpha val="28000"/>
              </a:scheme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 flipV="1">
            <a:off x="7757160" y="3264408"/>
            <a:ext cx="728472" cy="292608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6554724" y="3035808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>
                <a:alpha val="4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4</a:t>
            </a:r>
            <a:endParaRPr lang="en-US" sz="1000" dirty="0"/>
          </a:p>
        </p:txBody>
      </p:sp>
      <p:sp>
        <p:nvSpPr>
          <p:cNvPr id="207" name="Text 205"/>
          <p:cNvSpPr/>
          <p:nvPr/>
        </p:nvSpPr>
        <p:spPr>
          <a:xfrm>
            <a:off x="7283196" y="3182112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>
                <a:alpha val="4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4</a:t>
            </a:r>
            <a:endParaRPr lang="en-US" sz="1000" dirty="0"/>
          </a:p>
        </p:txBody>
      </p:sp>
      <p:sp>
        <p:nvSpPr>
          <p:cNvPr id="208" name="Text 206"/>
          <p:cNvSpPr/>
          <p:nvPr/>
        </p:nvSpPr>
        <p:spPr>
          <a:xfrm>
            <a:off x="7283196" y="3474720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>
                <a:alpha val="4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5</a:t>
            </a:r>
            <a:endParaRPr lang="en-US" sz="1000" dirty="0"/>
          </a:p>
        </p:txBody>
      </p:sp>
      <p:sp>
        <p:nvSpPr>
          <p:cNvPr id="209" name="Text 207"/>
          <p:cNvSpPr/>
          <p:nvPr/>
        </p:nvSpPr>
        <p:spPr>
          <a:xfrm>
            <a:off x="8011668" y="3035808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>
                <a:alpha val="4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3</a:t>
            </a:r>
            <a:endParaRPr lang="en-US" sz="1000" dirty="0"/>
          </a:p>
        </p:txBody>
      </p:sp>
      <p:sp>
        <p:nvSpPr>
          <p:cNvPr id="210" name="Text 208"/>
          <p:cNvSpPr/>
          <p:nvPr/>
        </p:nvSpPr>
        <p:spPr>
          <a:xfrm>
            <a:off x="6554724" y="3328416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3</a:t>
            </a:r>
            <a:endParaRPr lang="en-US" sz="1000" dirty="0"/>
          </a:p>
        </p:txBody>
      </p:sp>
      <p:sp>
        <p:nvSpPr>
          <p:cNvPr id="211" name="Text 209"/>
          <p:cNvSpPr/>
          <p:nvPr/>
        </p:nvSpPr>
        <p:spPr>
          <a:xfrm>
            <a:off x="6918960" y="3182112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1</a:t>
            </a:r>
            <a:endParaRPr lang="en-US" sz="1000" dirty="0"/>
          </a:p>
        </p:txBody>
      </p:sp>
      <p:sp>
        <p:nvSpPr>
          <p:cNvPr id="212" name="Text 210"/>
          <p:cNvSpPr/>
          <p:nvPr/>
        </p:nvSpPr>
        <p:spPr>
          <a:xfrm>
            <a:off x="7283196" y="2889504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2</a:t>
            </a:r>
            <a:endParaRPr lang="en-US" sz="1000" dirty="0"/>
          </a:p>
        </p:txBody>
      </p:sp>
      <p:sp>
        <p:nvSpPr>
          <p:cNvPr id="213" name="Text 211"/>
          <p:cNvSpPr/>
          <p:nvPr/>
        </p:nvSpPr>
        <p:spPr>
          <a:xfrm>
            <a:off x="7647432" y="3182112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2</a:t>
            </a:r>
            <a:endParaRPr lang="en-US" sz="1000" dirty="0"/>
          </a:p>
        </p:txBody>
      </p:sp>
      <p:sp>
        <p:nvSpPr>
          <p:cNvPr id="214" name="Text 212"/>
          <p:cNvSpPr/>
          <p:nvPr/>
        </p:nvSpPr>
        <p:spPr>
          <a:xfrm>
            <a:off x="8011668" y="3328416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1</a:t>
            </a:r>
            <a:endParaRPr lang="en-US" sz="1000" dirty="0"/>
          </a:p>
        </p:txBody>
      </p:sp>
      <p:sp>
        <p:nvSpPr>
          <p:cNvPr id="215" name="Shape 213"/>
          <p:cNvSpPr/>
          <p:nvPr/>
        </p:nvSpPr>
        <p:spPr>
          <a:xfrm>
            <a:off x="6113678" y="3077870"/>
            <a:ext cx="373075" cy="373075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216" name="Text 214"/>
          <p:cNvSpPr/>
          <p:nvPr/>
        </p:nvSpPr>
        <p:spPr>
          <a:xfrm>
            <a:off x="6190488" y="3154680"/>
            <a:ext cx="219456" cy="219456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</a:t>
            </a:r>
            <a:endParaRPr lang="en-US" sz="1100" dirty="0"/>
          </a:p>
        </p:txBody>
      </p:sp>
      <p:sp>
        <p:nvSpPr>
          <p:cNvPr id="217" name="Shape 215"/>
          <p:cNvSpPr/>
          <p:nvPr/>
        </p:nvSpPr>
        <p:spPr>
          <a:xfrm>
            <a:off x="6842150" y="2785262"/>
            <a:ext cx="373075" cy="373075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218" name="Text 216"/>
          <p:cNvSpPr/>
          <p:nvPr/>
        </p:nvSpPr>
        <p:spPr>
          <a:xfrm>
            <a:off x="6918960" y="2862072"/>
            <a:ext cx="219456" cy="219456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</a:t>
            </a:r>
            <a:endParaRPr lang="en-US" sz="1100" dirty="0"/>
          </a:p>
        </p:txBody>
      </p:sp>
      <p:sp>
        <p:nvSpPr>
          <p:cNvPr id="219" name="Shape 217"/>
          <p:cNvSpPr/>
          <p:nvPr/>
        </p:nvSpPr>
        <p:spPr>
          <a:xfrm>
            <a:off x="6842150" y="3370478"/>
            <a:ext cx="373075" cy="373075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220" name="Text 218"/>
          <p:cNvSpPr/>
          <p:nvPr/>
        </p:nvSpPr>
        <p:spPr>
          <a:xfrm>
            <a:off x="6918960" y="3447288"/>
            <a:ext cx="219456" cy="219456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</a:t>
            </a:r>
            <a:endParaRPr lang="en-US" sz="1100" dirty="0"/>
          </a:p>
        </p:txBody>
      </p:sp>
      <p:sp>
        <p:nvSpPr>
          <p:cNvPr id="221" name="Shape 219"/>
          <p:cNvSpPr/>
          <p:nvPr/>
        </p:nvSpPr>
        <p:spPr>
          <a:xfrm>
            <a:off x="7570622" y="2785262"/>
            <a:ext cx="373075" cy="373075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222" name="Text 220"/>
          <p:cNvSpPr/>
          <p:nvPr/>
        </p:nvSpPr>
        <p:spPr>
          <a:xfrm>
            <a:off x="7647432" y="2862072"/>
            <a:ext cx="219456" cy="219456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</a:t>
            </a:r>
            <a:endParaRPr lang="en-US" sz="1100" dirty="0"/>
          </a:p>
        </p:txBody>
      </p:sp>
      <p:sp>
        <p:nvSpPr>
          <p:cNvPr id="223" name="Shape 221"/>
          <p:cNvSpPr/>
          <p:nvPr/>
        </p:nvSpPr>
        <p:spPr>
          <a:xfrm>
            <a:off x="7570622" y="3370478"/>
            <a:ext cx="373075" cy="373075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224" name="Text 222"/>
          <p:cNvSpPr/>
          <p:nvPr/>
        </p:nvSpPr>
        <p:spPr>
          <a:xfrm>
            <a:off x="7647432" y="3447288"/>
            <a:ext cx="219456" cy="219456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E</a:t>
            </a:r>
            <a:endParaRPr lang="en-US" sz="1100" dirty="0"/>
          </a:p>
        </p:txBody>
      </p:sp>
      <p:sp>
        <p:nvSpPr>
          <p:cNvPr id="225" name="Shape 223"/>
          <p:cNvSpPr/>
          <p:nvPr/>
        </p:nvSpPr>
        <p:spPr>
          <a:xfrm>
            <a:off x="8299094" y="3077870"/>
            <a:ext cx="373075" cy="373075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226" name="Text 224"/>
          <p:cNvSpPr/>
          <p:nvPr/>
        </p:nvSpPr>
        <p:spPr>
          <a:xfrm>
            <a:off x="8375904" y="3154680"/>
            <a:ext cx="219456" cy="219456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F</a:t>
            </a:r>
            <a:endParaRPr lang="en-US" sz="1100" dirty="0"/>
          </a:p>
        </p:txBody>
      </p:sp>
      <p:sp>
        <p:nvSpPr>
          <p:cNvPr id="227" name="Text 225"/>
          <p:cNvSpPr txBox="1"/>
          <p:nvPr/>
        </p:nvSpPr>
        <p:spPr>
          <a:xfrm>
            <a:off x="6190488" y="3739896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MST done: 5 edges (V − 1), total 9</a:t>
            </a:r>
            <a:endParaRPr lang="en-US" sz="1200" dirty="0"/>
          </a:p>
        </p:txBody>
      </p:sp>
      <p:sp>
        <p:nvSpPr>
          <p:cNvPr id="228" name="Shape 226"/>
          <p:cNvSpPr/>
          <p:nvPr/>
        </p:nvSpPr>
        <p:spPr>
          <a:xfrm>
            <a:off x="457200" y="4178808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229" name="Text 227"/>
          <p:cNvSpPr txBox="1"/>
          <p:nvPr/>
        </p:nvSpPr>
        <p:spPr>
          <a:xfrm>
            <a:off x="640080" y="42245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NARRATION   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Prim starts at A and selects AC with weight three, CB with weight one, BD with weight two, DE with weight two, and EF with weight one. The total is nine.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463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SCENE 5  |  KRUSKAL BY WEIGHT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Kruskal's walkthrough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587752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658368" y="1536192"/>
            <a:ext cx="728472" cy="292608"/>
          </a:xfrm>
          <a:prstGeom prst="line">
            <a:avLst/>
          </a:prstGeom>
          <a:noFill/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828800"/>
            <a:ext cx="728472" cy="292608"/>
          </a:xfrm>
          <a:prstGeom prst="line">
            <a:avLst/>
          </a:prstGeom>
          <a:noFill/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86840" y="1536192"/>
            <a:ext cx="728472" cy="0"/>
          </a:xfrm>
          <a:prstGeom prst="line">
            <a:avLst/>
          </a:prstGeom>
          <a:noFill/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386840" y="1536192"/>
            <a:ext cx="728472" cy="585216"/>
          </a:xfrm>
          <a:prstGeom prst="line">
            <a:avLst/>
          </a:prstGeom>
          <a:noFill/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86840" y="2121408"/>
            <a:ext cx="728472" cy="0"/>
          </a:xfrm>
          <a:prstGeom prst="line">
            <a:avLst/>
          </a:prstGeom>
          <a:noFill/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15312" y="1536192"/>
            <a:ext cx="0" cy="585216"/>
          </a:xfrm>
          <a:prstGeom prst="line">
            <a:avLst/>
          </a:prstGeom>
          <a:noFill/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15312" y="1536192"/>
            <a:ext cx="728472" cy="292608"/>
          </a:xfrm>
          <a:prstGeom prst="line">
            <a:avLst/>
          </a:prstGeom>
          <a:noFill/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2115312" y="1828800"/>
            <a:ext cx="728472" cy="292608"/>
          </a:xfrm>
          <a:prstGeom prst="line">
            <a:avLst/>
          </a:prstGeom>
          <a:noFill/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86840" y="1536192"/>
            <a:ext cx="0" cy="585216"/>
          </a:xfrm>
          <a:prstGeom prst="line">
            <a:avLst/>
          </a:prstGeom>
          <a:noFill/>
          <a:ln w="114300">
            <a:solidFill>
              <a:schemeClr val="accent2">
                <a:alpha val="28000"/>
              </a:scheme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86840" y="1536192"/>
            <a:ext cx="0" cy="585216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2876" y="1600200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>
                <a:alpha val="4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2876" y="1892808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>
                <a:alpha val="4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41348" y="1453896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>
                <a:alpha val="4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41348" y="1746504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>
                <a:alpha val="4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41348" y="2039112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>
                <a:alpha val="4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05584" y="1746504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>
                <a:alpha val="4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369820" y="1600200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>
                <a:alpha val="4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69820" y="1892808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>
                <a:alpha val="4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77112" y="1746504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1830" y="1642262"/>
            <a:ext cx="373075" cy="373075"/>
          </a:xfrm>
          <a:prstGeom prst="ellipse">
            <a:avLst/>
          </a:prstGeom>
          <a:solidFill>
            <a:schemeClr val="accent2">
              <a:alpha val="6000"/>
            </a:schemeClr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1719072"/>
            <a:ext cx="219456" cy="219456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200302" y="1349654"/>
            <a:ext cx="373075" cy="373075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27" name="Text 25"/>
          <p:cNvSpPr/>
          <p:nvPr/>
        </p:nvSpPr>
        <p:spPr>
          <a:xfrm>
            <a:off x="1277112" y="1426464"/>
            <a:ext cx="219456" cy="219456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200302" y="1934870"/>
            <a:ext cx="373075" cy="373075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29" name="Text 27"/>
          <p:cNvSpPr/>
          <p:nvPr/>
        </p:nvSpPr>
        <p:spPr>
          <a:xfrm>
            <a:off x="1277112" y="2011680"/>
            <a:ext cx="219456" cy="219456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928774" y="1349654"/>
            <a:ext cx="373075" cy="373075"/>
          </a:xfrm>
          <a:prstGeom prst="ellipse">
            <a:avLst/>
          </a:prstGeom>
          <a:solidFill>
            <a:schemeClr val="accent2">
              <a:alpha val="6000"/>
            </a:schemeClr>
          </a:solidFill>
          <a:ln/>
        </p:spPr>
      </p:sp>
      <p:sp>
        <p:nvSpPr>
          <p:cNvPr id="31" name="Text 29"/>
          <p:cNvSpPr/>
          <p:nvPr/>
        </p:nvSpPr>
        <p:spPr>
          <a:xfrm>
            <a:off x="2005584" y="1426464"/>
            <a:ext cx="219456" cy="219456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928774" y="1934870"/>
            <a:ext cx="373075" cy="373075"/>
          </a:xfrm>
          <a:prstGeom prst="ellipse">
            <a:avLst/>
          </a:prstGeom>
          <a:solidFill>
            <a:schemeClr val="accent2">
              <a:alpha val="6000"/>
            </a:schemeClr>
          </a:solidFill>
          <a:ln/>
        </p:spPr>
      </p:sp>
      <p:sp>
        <p:nvSpPr>
          <p:cNvPr id="33" name="Text 31"/>
          <p:cNvSpPr/>
          <p:nvPr/>
        </p:nvSpPr>
        <p:spPr>
          <a:xfrm>
            <a:off x="2005584" y="2011680"/>
            <a:ext cx="219456" cy="219456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657246" y="1642262"/>
            <a:ext cx="373075" cy="373075"/>
          </a:xfrm>
          <a:prstGeom prst="ellipse">
            <a:avLst/>
          </a:prstGeom>
          <a:solidFill>
            <a:schemeClr val="accent2">
              <a:alpha val="6000"/>
            </a:schemeClr>
          </a:solidFill>
          <a:ln/>
        </p:spPr>
      </p:sp>
      <p:sp>
        <p:nvSpPr>
          <p:cNvPr id="35" name="Text 33"/>
          <p:cNvSpPr/>
          <p:nvPr/>
        </p:nvSpPr>
        <p:spPr>
          <a:xfrm>
            <a:off x="2734056" y="1719072"/>
            <a:ext cx="219456" cy="219456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F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230428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1. Accept BC = 1   |   total 1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278124" y="1325880"/>
            <a:ext cx="2587752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3479292" y="1536192"/>
            <a:ext cx="728472" cy="292608"/>
          </a:xfrm>
          <a:prstGeom prst="line">
            <a:avLst/>
          </a:prstGeom>
          <a:noFill/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79292" y="1828800"/>
            <a:ext cx="728472" cy="292608"/>
          </a:xfrm>
          <a:prstGeom prst="line">
            <a:avLst/>
          </a:prstGeom>
          <a:noFill/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07764" y="1536192"/>
            <a:ext cx="728472" cy="0"/>
          </a:xfrm>
          <a:prstGeom prst="line">
            <a:avLst/>
          </a:prstGeom>
          <a:noFill/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4207764" y="1536192"/>
            <a:ext cx="728472" cy="585216"/>
          </a:xfrm>
          <a:prstGeom prst="line">
            <a:avLst/>
          </a:prstGeom>
          <a:noFill/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07764" y="2121408"/>
            <a:ext cx="728472" cy="0"/>
          </a:xfrm>
          <a:prstGeom prst="line">
            <a:avLst/>
          </a:prstGeom>
          <a:noFill/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936236" y="1536192"/>
            <a:ext cx="0" cy="585216"/>
          </a:xfrm>
          <a:prstGeom prst="line">
            <a:avLst/>
          </a:prstGeom>
          <a:noFill/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36236" y="1536192"/>
            <a:ext cx="728472" cy="292608"/>
          </a:xfrm>
          <a:prstGeom prst="line">
            <a:avLst/>
          </a:prstGeom>
          <a:noFill/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207764" y="1536192"/>
            <a:ext cx="0" cy="585216"/>
          </a:xfrm>
          <a:prstGeom prst="line">
            <a:avLst/>
          </a:prstGeom>
          <a:noFill/>
          <a:ln w="114300">
            <a:solidFill>
              <a:schemeClr val="accent2">
                <a:alpha val="28000"/>
              </a:scheme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07764" y="1536192"/>
            <a:ext cx="0" cy="585216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4936236" y="1828800"/>
            <a:ext cx="728472" cy="292608"/>
          </a:xfrm>
          <a:prstGeom prst="line">
            <a:avLst/>
          </a:prstGeom>
          <a:noFill/>
          <a:ln w="114300">
            <a:solidFill>
              <a:schemeClr val="accent2">
                <a:alpha val="28000"/>
              </a:scheme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4936236" y="1828800"/>
            <a:ext cx="728472" cy="292608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33800" y="1600200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>
                <a:alpha val="4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4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733800" y="1892808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>
                <a:alpha val="4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3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462272" y="1453896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>
                <a:alpha val="4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2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462272" y="1746504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>
                <a:alpha val="4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4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462272" y="2039112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>
                <a:alpha val="4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5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826508" y="1746504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>
                <a:alpha val="4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2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190744" y="1600200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>
                <a:alpha val="4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3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098036" y="1746504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1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190744" y="1892808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1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292754" y="1642262"/>
            <a:ext cx="373075" cy="373075"/>
          </a:xfrm>
          <a:prstGeom prst="ellipse">
            <a:avLst/>
          </a:prstGeom>
          <a:solidFill>
            <a:schemeClr val="accent2">
              <a:alpha val="6000"/>
            </a:schemeClr>
          </a:solidFill>
          <a:ln/>
        </p:spPr>
      </p:sp>
      <p:sp>
        <p:nvSpPr>
          <p:cNvPr id="59" name="Text 57"/>
          <p:cNvSpPr/>
          <p:nvPr/>
        </p:nvSpPr>
        <p:spPr>
          <a:xfrm>
            <a:off x="3369564" y="1719072"/>
            <a:ext cx="219456" cy="219456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A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021226" y="1349654"/>
            <a:ext cx="373075" cy="373075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61" name="Text 59"/>
          <p:cNvSpPr/>
          <p:nvPr/>
        </p:nvSpPr>
        <p:spPr>
          <a:xfrm>
            <a:off x="4098036" y="1426464"/>
            <a:ext cx="219456" cy="219456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4021226" y="1934870"/>
            <a:ext cx="373075" cy="373075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63" name="Text 61"/>
          <p:cNvSpPr/>
          <p:nvPr/>
        </p:nvSpPr>
        <p:spPr>
          <a:xfrm>
            <a:off x="4098036" y="2011680"/>
            <a:ext cx="219456" cy="219456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4749698" y="1349654"/>
            <a:ext cx="373075" cy="373075"/>
          </a:xfrm>
          <a:prstGeom prst="ellipse">
            <a:avLst/>
          </a:prstGeom>
          <a:solidFill>
            <a:schemeClr val="accent2">
              <a:alpha val="6000"/>
            </a:schemeClr>
          </a:solidFill>
          <a:ln/>
        </p:spPr>
      </p:sp>
      <p:sp>
        <p:nvSpPr>
          <p:cNvPr id="65" name="Text 63"/>
          <p:cNvSpPr/>
          <p:nvPr/>
        </p:nvSpPr>
        <p:spPr>
          <a:xfrm>
            <a:off x="4826508" y="1426464"/>
            <a:ext cx="219456" cy="219456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4749698" y="1934870"/>
            <a:ext cx="373075" cy="373075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67" name="Text 65"/>
          <p:cNvSpPr/>
          <p:nvPr/>
        </p:nvSpPr>
        <p:spPr>
          <a:xfrm>
            <a:off x="4826508" y="2011680"/>
            <a:ext cx="219456" cy="219456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E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5478170" y="1642262"/>
            <a:ext cx="373075" cy="373075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69" name="Text 67"/>
          <p:cNvSpPr/>
          <p:nvPr/>
        </p:nvSpPr>
        <p:spPr>
          <a:xfrm>
            <a:off x="5554980" y="1719072"/>
            <a:ext cx="219456" cy="219456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F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3369564" y="230428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2. Accept EF = 1   |   total 2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6099048" y="1325880"/>
            <a:ext cx="2587752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flipV="1">
            <a:off x="6300216" y="1536192"/>
            <a:ext cx="728472" cy="292608"/>
          </a:xfrm>
          <a:prstGeom prst="line">
            <a:avLst/>
          </a:prstGeom>
          <a:noFill/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300216" y="1828800"/>
            <a:ext cx="728472" cy="292608"/>
          </a:xfrm>
          <a:prstGeom prst="line">
            <a:avLst/>
          </a:prstGeom>
          <a:noFill/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flipV="1">
            <a:off x="7028688" y="1536192"/>
            <a:ext cx="728472" cy="585216"/>
          </a:xfrm>
          <a:prstGeom prst="line">
            <a:avLst/>
          </a:prstGeom>
          <a:noFill/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028688" y="2121408"/>
            <a:ext cx="728472" cy="0"/>
          </a:xfrm>
          <a:prstGeom prst="line">
            <a:avLst/>
          </a:prstGeom>
          <a:noFill/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757160" y="1536192"/>
            <a:ext cx="0" cy="585216"/>
          </a:xfrm>
          <a:prstGeom prst="line">
            <a:avLst/>
          </a:prstGeom>
          <a:noFill/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757160" y="1536192"/>
            <a:ext cx="728472" cy="292608"/>
          </a:xfrm>
          <a:prstGeom prst="line">
            <a:avLst/>
          </a:prstGeom>
          <a:noFill/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028688" y="1536192"/>
            <a:ext cx="0" cy="585216"/>
          </a:xfrm>
          <a:prstGeom prst="line">
            <a:avLst/>
          </a:prstGeom>
          <a:noFill/>
          <a:ln w="114300">
            <a:solidFill>
              <a:schemeClr val="accent2">
                <a:alpha val="28000"/>
              </a:scheme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028688" y="1536192"/>
            <a:ext cx="0" cy="585216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028688" y="1536192"/>
            <a:ext cx="728472" cy="0"/>
          </a:xfrm>
          <a:prstGeom prst="line">
            <a:avLst/>
          </a:prstGeom>
          <a:noFill/>
          <a:ln w="114300">
            <a:solidFill>
              <a:schemeClr val="accent2">
                <a:alpha val="28000"/>
              </a:scheme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028688" y="1536192"/>
            <a:ext cx="728472" cy="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flipV="1">
            <a:off x="7757160" y="1828800"/>
            <a:ext cx="728472" cy="292608"/>
          </a:xfrm>
          <a:prstGeom prst="line">
            <a:avLst/>
          </a:prstGeom>
          <a:noFill/>
          <a:ln w="114300">
            <a:solidFill>
              <a:schemeClr val="accent2">
                <a:alpha val="28000"/>
              </a:scheme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flipV="1">
            <a:off x="7757160" y="1828800"/>
            <a:ext cx="728472" cy="292608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554724" y="1600200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>
                <a:alpha val="4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4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6554724" y="1892808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>
                <a:alpha val="4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3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7283196" y="1746504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>
                <a:alpha val="4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4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7283196" y="2039112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>
                <a:alpha val="4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5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7647432" y="1746504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>
                <a:alpha val="4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2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8011668" y="1600200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>
                <a:alpha val="4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3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6918960" y="1746504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1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7283196" y="1453896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2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8011668" y="1892808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1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6113678" y="1642262"/>
            <a:ext cx="373075" cy="373075"/>
          </a:xfrm>
          <a:prstGeom prst="ellipse">
            <a:avLst/>
          </a:prstGeom>
          <a:solidFill>
            <a:schemeClr val="accent2">
              <a:alpha val="6000"/>
            </a:schemeClr>
          </a:solidFill>
          <a:ln/>
        </p:spPr>
      </p:sp>
      <p:sp>
        <p:nvSpPr>
          <p:cNvPr id="94" name="Text 92"/>
          <p:cNvSpPr/>
          <p:nvPr/>
        </p:nvSpPr>
        <p:spPr>
          <a:xfrm>
            <a:off x="6190488" y="1719072"/>
            <a:ext cx="219456" cy="219456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A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6842150" y="1349654"/>
            <a:ext cx="373075" cy="373075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96" name="Text 94"/>
          <p:cNvSpPr/>
          <p:nvPr/>
        </p:nvSpPr>
        <p:spPr>
          <a:xfrm>
            <a:off x="6918960" y="1426464"/>
            <a:ext cx="219456" cy="219456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6842150" y="1934870"/>
            <a:ext cx="373075" cy="373075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98" name="Text 96"/>
          <p:cNvSpPr/>
          <p:nvPr/>
        </p:nvSpPr>
        <p:spPr>
          <a:xfrm>
            <a:off x="6918960" y="2011680"/>
            <a:ext cx="219456" cy="219456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7570622" y="1349654"/>
            <a:ext cx="373075" cy="373075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100" name="Text 98"/>
          <p:cNvSpPr/>
          <p:nvPr/>
        </p:nvSpPr>
        <p:spPr>
          <a:xfrm>
            <a:off x="7647432" y="1426464"/>
            <a:ext cx="219456" cy="219456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7570622" y="1934870"/>
            <a:ext cx="373075" cy="373075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102" name="Text 100"/>
          <p:cNvSpPr/>
          <p:nvPr/>
        </p:nvSpPr>
        <p:spPr>
          <a:xfrm>
            <a:off x="7647432" y="2011680"/>
            <a:ext cx="219456" cy="219456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E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8299094" y="1642262"/>
            <a:ext cx="373075" cy="373075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104" name="Text 102"/>
          <p:cNvSpPr/>
          <p:nvPr/>
        </p:nvSpPr>
        <p:spPr>
          <a:xfrm>
            <a:off x="8375904" y="1719072"/>
            <a:ext cx="219456" cy="219456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F</a:t>
            </a:r>
            <a:endParaRPr lang="en-US" sz="1100" dirty="0"/>
          </a:p>
        </p:txBody>
      </p:sp>
      <p:sp>
        <p:nvSpPr>
          <p:cNvPr id="105" name="Text 103"/>
          <p:cNvSpPr txBox="1"/>
          <p:nvPr/>
        </p:nvSpPr>
        <p:spPr>
          <a:xfrm>
            <a:off x="6190488" y="230428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3. Accept BD = 2   |   total 4</a:t>
            </a:r>
            <a:endParaRPr lang="en-US" sz="1200" dirty="0"/>
          </a:p>
        </p:txBody>
      </p:sp>
      <p:sp>
        <p:nvSpPr>
          <p:cNvPr id="106" name="Shape 104"/>
          <p:cNvSpPr/>
          <p:nvPr/>
        </p:nvSpPr>
        <p:spPr>
          <a:xfrm>
            <a:off x="457200" y="2761488"/>
            <a:ext cx="2587752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flipV="1">
            <a:off x="658368" y="2971800"/>
            <a:ext cx="728472" cy="292608"/>
          </a:xfrm>
          <a:prstGeom prst="line">
            <a:avLst/>
          </a:prstGeom>
          <a:noFill/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58368" y="3264408"/>
            <a:ext cx="728472" cy="292608"/>
          </a:xfrm>
          <a:prstGeom prst="line">
            <a:avLst/>
          </a:prstGeom>
          <a:noFill/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flipV="1">
            <a:off x="1386840" y="2971800"/>
            <a:ext cx="728472" cy="585216"/>
          </a:xfrm>
          <a:prstGeom prst="line">
            <a:avLst/>
          </a:prstGeom>
          <a:noFill/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386840" y="3557016"/>
            <a:ext cx="728472" cy="0"/>
          </a:xfrm>
          <a:prstGeom prst="line">
            <a:avLst/>
          </a:prstGeom>
          <a:noFill/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115312" y="2971800"/>
            <a:ext cx="728472" cy="292608"/>
          </a:xfrm>
          <a:prstGeom prst="line">
            <a:avLst/>
          </a:prstGeom>
          <a:noFill/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386840" y="2971800"/>
            <a:ext cx="0" cy="585216"/>
          </a:xfrm>
          <a:prstGeom prst="line">
            <a:avLst/>
          </a:prstGeom>
          <a:noFill/>
          <a:ln w="114300">
            <a:solidFill>
              <a:schemeClr val="accent2">
                <a:alpha val="28000"/>
              </a:scheme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386840" y="2971800"/>
            <a:ext cx="0" cy="585216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386840" y="2971800"/>
            <a:ext cx="728472" cy="0"/>
          </a:xfrm>
          <a:prstGeom prst="line">
            <a:avLst/>
          </a:prstGeom>
          <a:noFill/>
          <a:ln w="114300">
            <a:solidFill>
              <a:schemeClr val="accent2">
                <a:alpha val="28000"/>
              </a:scheme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386840" y="2971800"/>
            <a:ext cx="728472" cy="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2115312" y="2971800"/>
            <a:ext cx="0" cy="585216"/>
          </a:xfrm>
          <a:prstGeom prst="line">
            <a:avLst/>
          </a:prstGeom>
          <a:noFill/>
          <a:ln w="114300">
            <a:solidFill>
              <a:schemeClr val="accent2">
                <a:alpha val="28000"/>
              </a:scheme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115312" y="2971800"/>
            <a:ext cx="0" cy="585216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 flipV="1">
            <a:off x="2115312" y="3264408"/>
            <a:ext cx="728472" cy="292608"/>
          </a:xfrm>
          <a:prstGeom prst="line">
            <a:avLst/>
          </a:prstGeom>
          <a:noFill/>
          <a:ln w="114300">
            <a:solidFill>
              <a:schemeClr val="accent2">
                <a:alpha val="28000"/>
              </a:scheme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 flipV="1">
            <a:off x="2115312" y="3264408"/>
            <a:ext cx="728472" cy="292608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912876" y="3035808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>
                <a:alpha val="4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4</a:t>
            </a:r>
            <a:endParaRPr lang="en-US" sz="1000" dirty="0"/>
          </a:p>
        </p:txBody>
      </p:sp>
      <p:sp>
        <p:nvSpPr>
          <p:cNvPr id="121" name="Text 119"/>
          <p:cNvSpPr/>
          <p:nvPr/>
        </p:nvSpPr>
        <p:spPr>
          <a:xfrm>
            <a:off x="912876" y="3328416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>
                <a:alpha val="4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3</a:t>
            </a:r>
            <a:endParaRPr lang="en-US" sz="1000" dirty="0"/>
          </a:p>
        </p:txBody>
      </p:sp>
      <p:sp>
        <p:nvSpPr>
          <p:cNvPr id="122" name="Text 120"/>
          <p:cNvSpPr/>
          <p:nvPr/>
        </p:nvSpPr>
        <p:spPr>
          <a:xfrm>
            <a:off x="1641348" y="3182112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>
                <a:alpha val="4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4</a:t>
            </a:r>
            <a:endParaRPr lang="en-US" sz="1000" dirty="0"/>
          </a:p>
        </p:txBody>
      </p:sp>
      <p:sp>
        <p:nvSpPr>
          <p:cNvPr id="123" name="Text 121"/>
          <p:cNvSpPr/>
          <p:nvPr/>
        </p:nvSpPr>
        <p:spPr>
          <a:xfrm>
            <a:off x="1641348" y="3474720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>
                <a:alpha val="4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5</a:t>
            </a:r>
            <a:endParaRPr lang="en-US" sz="1000" dirty="0"/>
          </a:p>
        </p:txBody>
      </p:sp>
      <p:sp>
        <p:nvSpPr>
          <p:cNvPr id="124" name="Text 122"/>
          <p:cNvSpPr/>
          <p:nvPr/>
        </p:nvSpPr>
        <p:spPr>
          <a:xfrm>
            <a:off x="2369820" y="3035808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>
                <a:alpha val="4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3</a:t>
            </a:r>
            <a:endParaRPr lang="en-US" sz="1000" dirty="0"/>
          </a:p>
        </p:txBody>
      </p:sp>
      <p:sp>
        <p:nvSpPr>
          <p:cNvPr id="125" name="Text 123"/>
          <p:cNvSpPr/>
          <p:nvPr/>
        </p:nvSpPr>
        <p:spPr>
          <a:xfrm>
            <a:off x="1277112" y="3182112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1</a:t>
            </a:r>
            <a:endParaRPr lang="en-US" sz="1000" dirty="0"/>
          </a:p>
        </p:txBody>
      </p:sp>
      <p:sp>
        <p:nvSpPr>
          <p:cNvPr id="126" name="Text 124"/>
          <p:cNvSpPr/>
          <p:nvPr/>
        </p:nvSpPr>
        <p:spPr>
          <a:xfrm>
            <a:off x="1641348" y="2889504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2</a:t>
            </a:r>
            <a:endParaRPr lang="en-US" sz="1000" dirty="0"/>
          </a:p>
        </p:txBody>
      </p:sp>
      <p:sp>
        <p:nvSpPr>
          <p:cNvPr id="127" name="Text 125"/>
          <p:cNvSpPr/>
          <p:nvPr/>
        </p:nvSpPr>
        <p:spPr>
          <a:xfrm>
            <a:off x="2005584" y="3182112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2</a:t>
            </a:r>
            <a:endParaRPr lang="en-US" sz="1000" dirty="0"/>
          </a:p>
        </p:txBody>
      </p:sp>
      <p:sp>
        <p:nvSpPr>
          <p:cNvPr id="128" name="Text 126"/>
          <p:cNvSpPr/>
          <p:nvPr/>
        </p:nvSpPr>
        <p:spPr>
          <a:xfrm>
            <a:off x="2369820" y="3328416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1</a:t>
            </a:r>
            <a:endParaRPr lang="en-US" sz="1000" dirty="0"/>
          </a:p>
        </p:txBody>
      </p:sp>
      <p:sp>
        <p:nvSpPr>
          <p:cNvPr id="129" name="Shape 127"/>
          <p:cNvSpPr/>
          <p:nvPr/>
        </p:nvSpPr>
        <p:spPr>
          <a:xfrm>
            <a:off x="471830" y="3077870"/>
            <a:ext cx="373075" cy="373075"/>
          </a:xfrm>
          <a:prstGeom prst="ellipse">
            <a:avLst/>
          </a:prstGeom>
          <a:solidFill>
            <a:schemeClr val="accent2">
              <a:alpha val="6000"/>
            </a:schemeClr>
          </a:solidFill>
          <a:ln/>
        </p:spPr>
      </p:sp>
      <p:sp>
        <p:nvSpPr>
          <p:cNvPr id="130" name="Text 128"/>
          <p:cNvSpPr/>
          <p:nvPr/>
        </p:nvSpPr>
        <p:spPr>
          <a:xfrm>
            <a:off x="548640" y="3154680"/>
            <a:ext cx="219456" cy="219456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A</a:t>
            </a:r>
            <a:endParaRPr lang="en-US" sz="1100" dirty="0"/>
          </a:p>
        </p:txBody>
      </p:sp>
      <p:sp>
        <p:nvSpPr>
          <p:cNvPr id="131" name="Shape 129"/>
          <p:cNvSpPr/>
          <p:nvPr/>
        </p:nvSpPr>
        <p:spPr>
          <a:xfrm>
            <a:off x="1200302" y="2785262"/>
            <a:ext cx="373075" cy="373075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132" name="Text 130"/>
          <p:cNvSpPr/>
          <p:nvPr/>
        </p:nvSpPr>
        <p:spPr>
          <a:xfrm>
            <a:off x="1277112" y="2862072"/>
            <a:ext cx="219456" cy="219456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</a:t>
            </a:r>
            <a:endParaRPr lang="en-US" sz="1100" dirty="0"/>
          </a:p>
        </p:txBody>
      </p:sp>
      <p:sp>
        <p:nvSpPr>
          <p:cNvPr id="133" name="Shape 131"/>
          <p:cNvSpPr/>
          <p:nvPr/>
        </p:nvSpPr>
        <p:spPr>
          <a:xfrm>
            <a:off x="1200302" y="3370478"/>
            <a:ext cx="373075" cy="373075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134" name="Text 132"/>
          <p:cNvSpPr/>
          <p:nvPr/>
        </p:nvSpPr>
        <p:spPr>
          <a:xfrm>
            <a:off x="1277112" y="3447288"/>
            <a:ext cx="219456" cy="219456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</a:t>
            </a:r>
            <a:endParaRPr lang="en-US" sz="1100" dirty="0"/>
          </a:p>
        </p:txBody>
      </p:sp>
      <p:sp>
        <p:nvSpPr>
          <p:cNvPr id="135" name="Shape 133"/>
          <p:cNvSpPr/>
          <p:nvPr/>
        </p:nvSpPr>
        <p:spPr>
          <a:xfrm>
            <a:off x="1928774" y="2785262"/>
            <a:ext cx="373075" cy="373075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136" name="Text 134"/>
          <p:cNvSpPr/>
          <p:nvPr/>
        </p:nvSpPr>
        <p:spPr>
          <a:xfrm>
            <a:off x="2005584" y="2862072"/>
            <a:ext cx="219456" cy="219456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</a:t>
            </a:r>
            <a:endParaRPr lang="en-US" sz="1100" dirty="0"/>
          </a:p>
        </p:txBody>
      </p:sp>
      <p:sp>
        <p:nvSpPr>
          <p:cNvPr id="137" name="Shape 135"/>
          <p:cNvSpPr/>
          <p:nvPr/>
        </p:nvSpPr>
        <p:spPr>
          <a:xfrm>
            <a:off x="1928774" y="3370478"/>
            <a:ext cx="373075" cy="373075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138" name="Text 136"/>
          <p:cNvSpPr/>
          <p:nvPr/>
        </p:nvSpPr>
        <p:spPr>
          <a:xfrm>
            <a:off x="2005584" y="3447288"/>
            <a:ext cx="219456" cy="219456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E</a:t>
            </a:r>
            <a:endParaRPr lang="en-US" sz="1100" dirty="0"/>
          </a:p>
        </p:txBody>
      </p:sp>
      <p:sp>
        <p:nvSpPr>
          <p:cNvPr id="139" name="Shape 137"/>
          <p:cNvSpPr/>
          <p:nvPr/>
        </p:nvSpPr>
        <p:spPr>
          <a:xfrm>
            <a:off x="2657246" y="3077870"/>
            <a:ext cx="373075" cy="373075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140" name="Text 138"/>
          <p:cNvSpPr/>
          <p:nvPr/>
        </p:nvSpPr>
        <p:spPr>
          <a:xfrm>
            <a:off x="2734056" y="3154680"/>
            <a:ext cx="219456" cy="219456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F</a:t>
            </a:r>
            <a:endParaRPr lang="en-US" sz="1100" dirty="0"/>
          </a:p>
        </p:txBody>
      </p:sp>
      <p:sp>
        <p:nvSpPr>
          <p:cNvPr id="141" name="Text 139"/>
          <p:cNvSpPr txBox="1"/>
          <p:nvPr/>
        </p:nvSpPr>
        <p:spPr>
          <a:xfrm>
            <a:off x="548640" y="3739896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4. Accept DE = 2   |   total 6</a:t>
            </a:r>
            <a:endParaRPr lang="en-US" sz="1200" dirty="0"/>
          </a:p>
        </p:txBody>
      </p:sp>
      <p:sp>
        <p:nvSpPr>
          <p:cNvPr id="142" name="Shape 140"/>
          <p:cNvSpPr/>
          <p:nvPr/>
        </p:nvSpPr>
        <p:spPr>
          <a:xfrm>
            <a:off x="3278124" y="2761488"/>
            <a:ext cx="2587752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 flipV="1">
            <a:off x="3479292" y="2971800"/>
            <a:ext cx="728472" cy="292608"/>
          </a:xfrm>
          <a:prstGeom prst="line">
            <a:avLst/>
          </a:prstGeom>
          <a:noFill/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 flipV="1">
            <a:off x="4207764" y="2971800"/>
            <a:ext cx="728472" cy="585216"/>
          </a:xfrm>
          <a:prstGeom prst="line">
            <a:avLst/>
          </a:prstGeom>
          <a:noFill/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4207764" y="3557016"/>
            <a:ext cx="728472" cy="0"/>
          </a:xfrm>
          <a:prstGeom prst="line">
            <a:avLst/>
          </a:prstGeom>
          <a:noFill/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4936236" y="2971800"/>
            <a:ext cx="728472" cy="292608"/>
          </a:xfrm>
          <a:prstGeom prst="line">
            <a:avLst/>
          </a:prstGeom>
          <a:noFill/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3479292" y="3264408"/>
            <a:ext cx="728472" cy="292608"/>
          </a:xfrm>
          <a:prstGeom prst="line">
            <a:avLst/>
          </a:prstGeom>
          <a:noFill/>
          <a:ln w="114300">
            <a:solidFill>
              <a:schemeClr val="accent2">
                <a:alpha val="28000"/>
              </a:scheme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3479292" y="3264408"/>
            <a:ext cx="728472" cy="292608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4207764" y="2971800"/>
            <a:ext cx="0" cy="585216"/>
          </a:xfrm>
          <a:prstGeom prst="line">
            <a:avLst/>
          </a:prstGeom>
          <a:noFill/>
          <a:ln w="114300">
            <a:solidFill>
              <a:schemeClr val="accent2">
                <a:alpha val="28000"/>
              </a:scheme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4207764" y="2971800"/>
            <a:ext cx="0" cy="585216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4207764" y="2971800"/>
            <a:ext cx="728472" cy="0"/>
          </a:xfrm>
          <a:prstGeom prst="line">
            <a:avLst/>
          </a:prstGeom>
          <a:noFill/>
          <a:ln w="114300">
            <a:solidFill>
              <a:schemeClr val="accent2">
                <a:alpha val="28000"/>
              </a:scheme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4207764" y="2971800"/>
            <a:ext cx="728472" cy="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4936236" y="2971800"/>
            <a:ext cx="0" cy="585216"/>
          </a:xfrm>
          <a:prstGeom prst="line">
            <a:avLst/>
          </a:prstGeom>
          <a:noFill/>
          <a:ln w="114300">
            <a:solidFill>
              <a:schemeClr val="accent2">
                <a:alpha val="28000"/>
              </a:scheme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4936236" y="2971800"/>
            <a:ext cx="0" cy="585216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 flipV="1">
            <a:off x="4936236" y="3264408"/>
            <a:ext cx="728472" cy="292608"/>
          </a:xfrm>
          <a:prstGeom prst="line">
            <a:avLst/>
          </a:prstGeom>
          <a:noFill/>
          <a:ln w="114300">
            <a:solidFill>
              <a:schemeClr val="accent2">
                <a:alpha val="28000"/>
              </a:scheme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 flipV="1">
            <a:off x="4936236" y="3264408"/>
            <a:ext cx="728472" cy="292608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3733800" y="3035808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>
                <a:alpha val="4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4</a:t>
            </a:r>
            <a:endParaRPr lang="en-US" sz="1000" dirty="0"/>
          </a:p>
        </p:txBody>
      </p:sp>
      <p:sp>
        <p:nvSpPr>
          <p:cNvPr id="158" name="Text 156"/>
          <p:cNvSpPr/>
          <p:nvPr/>
        </p:nvSpPr>
        <p:spPr>
          <a:xfrm>
            <a:off x="4462272" y="3182112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>
                <a:alpha val="4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4</a:t>
            </a:r>
            <a:endParaRPr lang="en-US" sz="1000" dirty="0"/>
          </a:p>
        </p:txBody>
      </p:sp>
      <p:sp>
        <p:nvSpPr>
          <p:cNvPr id="159" name="Text 157"/>
          <p:cNvSpPr/>
          <p:nvPr/>
        </p:nvSpPr>
        <p:spPr>
          <a:xfrm>
            <a:off x="4462272" y="3474720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>
                <a:alpha val="4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5</a:t>
            </a:r>
            <a:endParaRPr lang="en-US" sz="1000" dirty="0"/>
          </a:p>
        </p:txBody>
      </p:sp>
      <p:sp>
        <p:nvSpPr>
          <p:cNvPr id="160" name="Text 158"/>
          <p:cNvSpPr/>
          <p:nvPr/>
        </p:nvSpPr>
        <p:spPr>
          <a:xfrm>
            <a:off x="5190744" y="3035808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>
                <a:alpha val="4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3</a:t>
            </a:r>
            <a:endParaRPr lang="en-US" sz="1000" dirty="0"/>
          </a:p>
        </p:txBody>
      </p:sp>
      <p:sp>
        <p:nvSpPr>
          <p:cNvPr id="161" name="Text 159"/>
          <p:cNvSpPr/>
          <p:nvPr/>
        </p:nvSpPr>
        <p:spPr>
          <a:xfrm>
            <a:off x="3733800" y="3328416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3</a:t>
            </a:r>
            <a:endParaRPr lang="en-US" sz="1000" dirty="0"/>
          </a:p>
        </p:txBody>
      </p:sp>
      <p:sp>
        <p:nvSpPr>
          <p:cNvPr id="162" name="Text 160"/>
          <p:cNvSpPr/>
          <p:nvPr/>
        </p:nvSpPr>
        <p:spPr>
          <a:xfrm>
            <a:off x="4098036" y="3182112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1</a:t>
            </a:r>
            <a:endParaRPr lang="en-US" sz="1000" dirty="0"/>
          </a:p>
        </p:txBody>
      </p:sp>
      <p:sp>
        <p:nvSpPr>
          <p:cNvPr id="163" name="Text 161"/>
          <p:cNvSpPr/>
          <p:nvPr/>
        </p:nvSpPr>
        <p:spPr>
          <a:xfrm>
            <a:off x="4462272" y="2889504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2</a:t>
            </a:r>
            <a:endParaRPr lang="en-US" sz="1000" dirty="0"/>
          </a:p>
        </p:txBody>
      </p:sp>
      <p:sp>
        <p:nvSpPr>
          <p:cNvPr id="164" name="Text 162"/>
          <p:cNvSpPr/>
          <p:nvPr/>
        </p:nvSpPr>
        <p:spPr>
          <a:xfrm>
            <a:off x="4826508" y="3182112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2</a:t>
            </a:r>
            <a:endParaRPr lang="en-US" sz="1000" dirty="0"/>
          </a:p>
        </p:txBody>
      </p:sp>
      <p:sp>
        <p:nvSpPr>
          <p:cNvPr id="165" name="Text 163"/>
          <p:cNvSpPr/>
          <p:nvPr/>
        </p:nvSpPr>
        <p:spPr>
          <a:xfrm>
            <a:off x="5190744" y="3328416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1</a:t>
            </a:r>
            <a:endParaRPr lang="en-US" sz="1000" dirty="0"/>
          </a:p>
        </p:txBody>
      </p:sp>
      <p:sp>
        <p:nvSpPr>
          <p:cNvPr id="166" name="Shape 164"/>
          <p:cNvSpPr/>
          <p:nvPr/>
        </p:nvSpPr>
        <p:spPr>
          <a:xfrm>
            <a:off x="3292754" y="3077870"/>
            <a:ext cx="373075" cy="373075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167" name="Text 165"/>
          <p:cNvSpPr/>
          <p:nvPr/>
        </p:nvSpPr>
        <p:spPr>
          <a:xfrm>
            <a:off x="3369564" y="3154680"/>
            <a:ext cx="219456" cy="219456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</a:t>
            </a:r>
            <a:endParaRPr lang="en-US" sz="1100" dirty="0"/>
          </a:p>
        </p:txBody>
      </p:sp>
      <p:sp>
        <p:nvSpPr>
          <p:cNvPr id="168" name="Shape 166"/>
          <p:cNvSpPr/>
          <p:nvPr/>
        </p:nvSpPr>
        <p:spPr>
          <a:xfrm>
            <a:off x="4021226" y="2785262"/>
            <a:ext cx="373075" cy="373075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169" name="Text 167"/>
          <p:cNvSpPr/>
          <p:nvPr/>
        </p:nvSpPr>
        <p:spPr>
          <a:xfrm>
            <a:off x="4098036" y="2862072"/>
            <a:ext cx="219456" cy="219456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</a:t>
            </a:r>
            <a:endParaRPr lang="en-US" sz="1100" dirty="0"/>
          </a:p>
        </p:txBody>
      </p:sp>
      <p:sp>
        <p:nvSpPr>
          <p:cNvPr id="170" name="Shape 168"/>
          <p:cNvSpPr/>
          <p:nvPr/>
        </p:nvSpPr>
        <p:spPr>
          <a:xfrm>
            <a:off x="4021226" y="3370478"/>
            <a:ext cx="373075" cy="373075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171" name="Text 169"/>
          <p:cNvSpPr/>
          <p:nvPr/>
        </p:nvSpPr>
        <p:spPr>
          <a:xfrm>
            <a:off x="4098036" y="3447288"/>
            <a:ext cx="219456" cy="219456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</a:t>
            </a:r>
            <a:endParaRPr lang="en-US" sz="1100" dirty="0"/>
          </a:p>
        </p:txBody>
      </p:sp>
      <p:sp>
        <p:nvSpPr>
          <p:cNvPr id="172" name="Shape 170"/>
          <p:cNvSpPr/>
          <p:nvPr/>
        </p:nvSpPr>
        <p:spPr>
          <a:xfrm>
            <a:off x="4749698" y="2785262"/>
            <a:ext cx="373075" cy="373075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173" name="Text 171"/>
          <p:cNvSpPr/>
          <p:nvPr/>
        </p:nvSpPr>
        <p:spPr>
          <a:xfrm>
            <a:off x="4826508" y="2862072"/>
            <a:ext cx="219456" cy="219456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</a:t>
            </a:r>
            <a:endParaRPr lang="en-US" sz="1100" dirty="0"/>
          </a:p>
        </p:txBody>
      </p:sp>
      <p:sp>
        <p:nvSpPr>
          <p:cNvPr id="174" name="Shape 172"/>
          <p:cNvSpPr/>
          <p:nvPr/>
        </p:nvSpPr>
        <p:spPr>
          <a:xfrm>
            <a:off x="4749698" y="3370478"/>
            <a:ext cx="373075" cy="373075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175" name="Text 173"/>
          <p:cNvSpPr/>
          <p:nvPr/>
        </p:nvSpPr>
        <p:spPr>
          <a:xfrm>
            <a:off x="4826508" y="3447288"/>
            <a:ext cx="219456" cy="219456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E</a:t>
            </a:r>
            <a:endParaRPr lang="en-US" sz="1100" dirty="0"/>
          </a:p>
        </p:txBody>
      </p:sp>
      <p:sp>
        <p:nvSpPr>
          <p:cNvPr id="176" name="Shape 174"/>
          <p:cNvSpPr/>
          <p:nvPr/>
        </p:nvSpPr>
        <p:spPr>
          <a:xfrm>
            <a:off x="5478170" y="3077870"/>
            <a:ext cx="373075" cy="373075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177" name="Text 175"/>
          <p:cNvSpPr/>
          <p:nvPr/>
        </p:nvSpPr>
        <p:spPr>
          <a:xfrm>
            <a:off x="5554980" y="3154680"/>
            <a:ext cx="219456" cy="219456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F</a:t>
            </a:r>
            <a:endParaRPr lang="en-US" sz="1100" dirty="0"/>
          </a:p>
        </p:txBody>
      </p:sp>
      <p:sp>
        <p:nvSpPr>
          <p:cNvPr id="178" name="Text 176"/>
          <p:cNvSpPr txBox="1"/>
          <p:nvPr/>
        </p:nvSpPr>
        <p:spPr>
          <a:xfrm>
            <a:off x="3369564" y="3739896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5. Accept AC = 3   |   total 9</a:t>
            </a:r>
            <a:endParaRPr lang="en-US" sz="1200" dirty="0"/>
          </a:p>
        </p:txBody>
      </p:sp>
      <p:sp>
        <p:nvSpPr>
          <p:cNvPr id="179" name="Shape 177"/>
          <p:cNvSpPr/>
          <p:nvPr/>
        </p:nvSpPr>
        <p:spPr>
          <a:xfrm>
            <a:off x="6099048" y="2761488"/>
            <a:ext cx="2587752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 flipV="1">
            <a:off x="6300216" y="2971800"/>
            <a:ext cx="728472" cy="292608"/>
          </a:xfrm>
          <a:prstGeom prst="line">
            <a:avLst/>
          </a:prstGeom>
          <a:noFill/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 flipV="1">
            <a:off x="7028688" y="2971800"/>
            <a:ext cx="728472" cy="585216"/>
          </a:xfrm>
          <a:prstGeom prst="line">
            <a:avLst/>
          </a:prstGeom>
          <a:noFill/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028688" y="3557016"/>
            <a:ext cx="728472" cy="0"/>
          </a:xfrm>
          <a:prstGeom prst="line">
            <a:avLst/>
          </a:prstGeom>
          <a:noFill/>
          <a:ln w="1587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757160" y="2971800"/>
            <a:ext cx="728472" cy="292608"/>
          </a:xfrm>
          <a:prstGeom prst="line">
            <a:avLst/>
          </a:prstGeom>
          <a:noFill/>
          <a:ln w="101600">
            <a:solidFill>
              <a:schemeClr val="accent3">
                <a:alpha val="22000"/>
              </a:scheme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757160" y="2971800"/>
            <a:ext cx="728472" cy="292608"/>
          </a:xfrm>
          <a:prstGeom prst="line">
            <a:avLst/>
          </a:prstGeom>
          <a:noFill/>
          <a:ln w="28575">
            <a:solidFill>
              <a:schemeClr val="accent3"/>
            </a:solidFill>
            <a:prstDash val="dash"/>
          </a:ln>
        </p:spPr>
      </p:sp>
      <p:sp>
        <p:nvSpPr>
          <p:cNvPr id="185" name="Shape 183"/>
          <p:cNvSpPr/>
          <p:nvPr/>
        </p:nvSpPr>
        <p:spPr>
          <a:xfrm>
            <a:off x="6300216" y="3264408"/>
            <a:ext cx="728472" cy="292608"/>
          </a:xfrm>
          <a:prstGeom prst="line">
            <a:avLst/>
          </a:prstGeom>
          <a:noFill/>
          <a:ln w="114300">
            <a:solidFill>
              <a:schemeClr val="accent2">
                <a:alpha val="28000"/>
              </a:scheme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300216" y="3264408"/>
            <a:ext cx="728472" cy="292608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028688" y="2971800"/>
            <a:ext cx="0" cy="585216"/>
          </a:xfrm>
          <a:prstGeom prst="line">
            <a:avLst/>
          </a:prstGeom>
          <a:noFill/>
          <a:ln w="114300">
            <a:solidFill>
              <a:schemeClr val="accent2">
                <a:alpha val="28000"/>
              </a:scheme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028688" y="2971800"/>
            <a:ext cx="0" cy="585216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028688" y="2971800"/>
            <a:ext cx="728472" cy="0"/>
          </a:xfrm>
          <a:prstGeom prst="line">
            <a:avLst/>
          </a:prstGeom>
          <a:noFill/>
          <a:ln w="114300">
            <a:solidFill>
              <a:schemeClr val="accent2">
                <a:alpha val="28000"/>
              </a:scheme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028688" y="2971800"/>
            <a:ext cx="728472" cy="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757160" y="2971800"/>
            <a:ext cx="0" cy="585216"/>
          </a:xfrm>
          <a:prstGeom prst="line">
            <a:avLst/>
          </a:prstGeom>
          <a:noFill/>
          <a:ln w="114300">
            <a:solidFill>
              <a:schemeClr val="accent2">
                <a:alpha val="28000"/>
              </a:scheme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7757160" y="2971800"/>
            <a:ext cx="0" cy="585216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 flipV="1">
            <a:off x="7757160" y="3264408"/>
            <a:ext cx="728472" cy="292608"/>
          </a:xfrm>
          <a:prstGeom prst="line">
            <a:avLst/>
          </a:prstGeom>
          <a:noFill/>
          <a:ln w="114300">
            <a:solidFill>
              <a:schemeClr val="accent2">
                <a:alpha val="28000"/>
              </a:scheme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 flipV="1">
            <a:off x="7757160" y="3264408"/>
            <a:ext cx="728472" cy="292608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6554724" y="3035808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>
                <a:alpha val="4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4</a:t>
            </a:r>
            <a:endParaRPr lang="en-US" sz="1000" dirty="0"/>
          </a:p>
        </p:txBody>
      </p:sp>
      <p:sp>
        <p:nvSpPr>
          <p:cNvPr id="196" name="Text 194"/>
          <p:cNvSpPr/>
          <p:nvPr/>
        </p:nvSpPr>
        <p:spPr>
          <a:xfrm>
            <a:off x="7283196" y="3182112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>
                <a:alpha val="4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4</a:t>
            </a:r>
            <a:endParaRPr lang="en-US" sz="1000" dirty="0"/>
          </a:p>
        </p:txBody>
      </p:sp>
      <p:sp>
        <p:nvSpPr>
          <p:cNvPr id="197" name="Text 195"/>
          <p:cNvSpPr/>
          <p:nvPr/>
        </p:nvSpPr>
        <p:spPr>
          <a:xfrm>
            <a:off x="7283196" y="3474720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1">
                <a:alpha val="4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5</a:t>
            </a:r>
            <a:endParaRPr lang="en-US" sz="1000" dirty="0"/>
          </a:p>
        </p:txBody>
      </p:sp>
      <p:sp>
        <p:nvSpPr>
          <p:cNvPr id="198" name="Text 196"/>
          <p:cNvSpPr/>
          <p:nvPr/>
        </p:nvSpPr>
        <p:spPr>
          <a:xfrm>
            <a:off x="8011668" y="3035808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3</a:t>
            </a:r>
            <a:endParaRPr lang="en-US" sz="1000" dirty="0"/>
          </a:p>
        </p:txBody>
      </p:sp>
      <p:sp>
        <p:nvSpPr>
          <p:cNvPr id="199" name="Text 197"/>
          <p:cNvSpPr/>
          <p:nvPr/>
        </p:nvSpPr>
        <p:spPr>
          <a:xfrm>
            <a:off x="6554724" y="3328416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3</a:t>
            </a:r>
            <a:endParaRPr lang="en-US" sz="1000" dirty="0"/>
          </a:p>
        </p:txBody>
      </p:sp>
      <p:sp>
        <p:nvSpPr>
          <p:cNvPr id="200" name="Text 198"/>
          <p:cNvSpPr/>
          <p:nvPr/>
        </p:nvSpPr>
        <p:spPr>
          <a:xfrm>
            <a:off x="6918960" y="3182112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1</a:t>
            </a:r>
            <a:endParaRPr lang="en-US" sz="1000" dirty="0"/>
          </a:p>
        </p:txBody>
      </p:sp>
      <p:sp>
        <p:nvSpPr>
          <p:cNvPr id="201" name="Text 199"/>
          <p:cNvSpPr/>
          <p:nvPr/>
        </p:nvSpPr>
        <p:spPr>
          <a:xfrm>
            <a:off x="7283196" y="2889504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2</a:t>
            </a:r>
            <a:endParaRPr lang="en-US" sz="1000" dirty="0"/>
          </a:p>
        </p:txBody>
      </p:sp>
      <p:sp>
        <p:nvSpPr>
          <p:cNvPr id="202" name="Text 200"/>
          <p:cNvSpPr/>
          <p:nvPr/>
        </p:nvSpPr>
        <p:spPr>
          <a:xfrm>
            <a:off x="7647432" y="3182112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2</a:t>
            </a:r>
            <a:endParaRPr lang="en-US" sz="1000" dirty="0"/>
          </a:p>
        </p:txBody>
      </p:sp>
      <p:sp>
        <p:nvSpPr>
          <p:cNvPr id="203" name="Text 201"/>
          <p:cNvSpPr/>
          <p:nvPr/>
        </p:nvSpPr>
        <p:spPr>
          <a:xfrm>
            <a:off x="8011668" y="3328416"/>
            <a:ext cx="219456" cy="164592"/>
          </a:xfrm>
          <a:prstGeom prst="roundRect">
            <a:avLst>
              <a:gd name="adj" fmla="val 27778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1</a:t>
            </a:r>
            <a:endParaRPr lang="en-US" sz="1000" dirty="0"/>
          </a:p>
        </p:txBody>
      </p:sp>
      <p:sp>
        <p:nvSpPr>
          <p:cNvPr id="204" name="Shape 202"/>
          <p:cNvSpPr/>
          <p:nvPr/>
        </p:nvSpPr>
        <p:spPr>
          <a:xfrm>
            <a:off x="6113678" y="3077870"/>
            <a:ext cx="373075" cy="373075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205" name="Text 203"/>
          <p:cNvSpPr/>
          <p:nvPr/>
        </p:nvSpPr>
        <p:spPr>
          <a:xfrm>
            <a:off x="6190488" y="3154680"/>
            <a:ext cx="219456" cy="219456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</a:t>
            </a:r>
            <a:endParaRPr lang="en-US" sz="1100" dirty="0"/>
          </a:p>
        </p:txBody>
      </p:sp>
      <p:sp>
        <p:nvSpPr>
          <p:cNvPr id="206" name="Shape 204"/>
          <p:cNvSpPr/>
          <p:nvPr/>
        </p:nvSpPr>
        <p:spPr>
          <a:xfrm>
            <a:off x="6842150" y="2785262"/>
            <a:ext cx="373075" cy="373075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207" name="Text 205"/>
          <p:cNvSpPr/>
          <p:nvPr/>
        </p:nvSpPr>
        <p:spPr>
          <a:xfrm>
            <a:off x="6918960" y="2862072"/>
            <a:ext cx="219456" cy="219456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</a:t>
            </a:r>
            <a:endParaRPr lang="en-US" sz="1100" dirty="0"/>
          </a:p>
        </p:txBody>
      </p:sp>
      <p:sp>
        <p:nvSpPr>
          <p:cNvPr id="208" name="Shape 206"/>
          <p:cNvSpPr/>
          <p:nvPr/>
        </p:nvSpPr>
        <p:spPr>
          <a:xfrm>
            <a:off x="6842150" y="3370478"/>
            <a:ext cx="373075" cy="373075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209" name="Text 207"/>
          <p:cNvSpPr/>
          <p:nvPr/>
        </p:nvSpPr>
        <p:spPr>
          <a:xfrm>
            <a:off x="6918960" y="3447288"/>
            <a:ext cx="219456" cy="219456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</a:t>
            </a:r>
            <a:endParaRPr lang="en-US" sz="1100" dirty="0"/>
          </a:p>
        </p:txBody>
      </p:sp>
      <p:sp>
        <p:nvSpPr>
          <p:cNvPr id="210" name="Shape 208"/>
          <p:cNvSpPr/>
          <p:nvPr/>
        </p:nvSpPr>
        <p:spPr>
          <a:xfrm>
            <a:off x="7570622" y="2785262"/>
            <a:ext cx="373075" cy="373075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211" name="Text 209"/>
          <p:cNvSpPr/>
          <p:nvPr/>
        </p:nvSpPr>
        <p:spPr>
          <a:xfrm>
            <a:off x="7647432" y="2862072"/>
            <a:ext cx="219456" cy="219456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</a:t>
            </a:r>
            <a:endParaRPr lang="en-US" sz="1100" dirty="0"/>
          </a:p>
        </p:txBody>
      </p:sp>
      <p:sp>
        <p:nvSpPr>
          <p:cNvPr id="212" name="Shape 210"/>
          <p:cNvSpPr/>
          <p:nvPr/>
        </p:nvSpPr>
        <p:spPr>
          <a:xfrm>
            <a:off x="7570622" y="3370478"/>
            <a:ext cx="373075" cy="373075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213" name="Text 211"/>
          <p:cNvSpPr/>
          <p:nvPr/>
        </p:nvSpPr>
        <p:spPr>
          <a:xfrm>
            <a:off x="7647432" y="3447288"/>
            <a:ext cx="219456" cy="219456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E</a:t>
            </a:r>
            <a:endParaRPr lang="en-US" sz="1100" dirty="0"/>
          </a:p>
        </p:txBody>
      </p:sp>
      <p:sp>
        <p:nvSpPr>
          <p:cNvPr id="214" name="Shape 212"/>
          <p:cNvSpPr/>
          <p:nvPr/>
        </p:nvSpPr>
        <p:spPr>
          <a:xfrm>
            <a:off x="8299094" y="3077870"/>
            <a:ext cx="373075" cy="373075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215" name="Text 213"/>
          <p:cNvSpPr/>
          <p:nvPr/>
        </p:nvSpPr>
        <p:spPr>
          <a:xfrm>
            <a:off x="8375904" y="3154680"/>
            <a:ext cx="219456" cy="219456"/>
          </a:xfrm>
          <a:prstGeom prst="ellipse">
            <a:avLst/>
          </a:prstGeom>
          <a:solidFill>
            <a:schemeClr val="accent2"/>
          </a:solidFill>
          <a:ln w="222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F</a:t>
            </a:r>
            <a:endParaRPr lang="en-US" sz="1100" dirty="0"/>
          </a:p>
        </p:txBody>
      </p:sp>
      <p:sp>
        <p:nvSpPr>
          <p:cNvPr id="216" name="Text 214"/>
          <p:cNvSpPr txBox="1"/>
          <p:nvPr/>
        </p:nvSpPr>
        <p:spPr>
          <a:xfrm>
            <a:off x="6190488" y="3739896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Next: DF = 3 skipped (cycle D–E–F)</a:t>
            </a:r>
            <a:endParaRPr lang="en-US" sz="1200" dirty="0"/>
          </a:p>
        </p:txBody>
      </p:sp>
      <p:sp>
        <p:nvSpPr>
          <p:cNvPr id="217" name="Shape 215"/>
          <p:cNvSpPr/>
          <p:nvPr/>
        </p:nvSpPr>
        <p:spPr>
          <a:xfrm>
            <a:off x="457200" y="4178808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218" name="Text 216"/>
          <p:cNvSpPr txBox="1"/>
          <p:nvPr/>
        </p:nvSpPr>
        <p:spPr>
          <a:xfrm>
            <a:off x="640080" y="42245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NARRATION   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Kruskal selects the same set of edges in increasing-weight order, also giving total weight nine. If DF with weight three is considered next, it is skipped because it creates a cycle.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463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SCENE 6  |  88 TO 105 SEC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Running time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2651760"/>
          </a:xfrm>
          <a:prstGeom prst="roundRect">
            <a:avLst>
              <a:gd name="adj" fmla="val 2759"/>
            </a:avLst>
          </a:prstGeom>
          <a:solidFill>
            <a:schemeClr val="tx2"/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35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PRIM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O(V²)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with an adjacency matrix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7889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O(E log V)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with an efficient heap implementation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4023360" cy="2651760"/>
          </a:xfrm>
          <a:prstGeom prst="roundRect">
            <a:avLst>
              <a:gd name="adj" fmla="val 2759"/>
            </a:avLst>
          </a:prstGeom>
          <a:solidFill>
            <a:schemeClr val="tx2"/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435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KRUSKAL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691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O(E log E)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mainly due to sorting the edges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7889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 log E = O(E log V), since E ≤ V²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Union-Find cycle checks: near-constant each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8229600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416052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NARRATION   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Prim can run in O of V squared with an adjacency matrix, or O of E log V with an efficient heap implementation. Kruskal runs in O of E log E, mainly because of edge sorting.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463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SCENE 7  |  105 TO 120 SEC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Same tree, two strategies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35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PRIM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Grows one tree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945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from a start vertex, one cheapest crossing edge at a time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32588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435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KRUSKAL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737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Joins components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1945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using safe edges: the lightest ones that make no cycle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1546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NARRATION   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Both are greedy algorithms for finding a minimum spanning tree. Prim grows one tree; Kruskal joins components using safe edges. They are useful in network and infrastructure design.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114800"/>
            <a:ext cx="8229600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41148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FINAL FRAME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103120" y="411480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Generated using InVideo AI.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463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avy Circuit">
  <a:themeElements>
    <a:clrScheme name="Navy Circuit">
      <a:dk1>
        <a:srgbClr val="0A1128"/>
      </a:dk1>
      <a:lt1>
        <a:srgbClr val="FFFFFF"/>
      </a:lt1>
      <a:dk2>
        <a:srgbClr val="111C3D"/>
      </a:dk2>
      <a:lt2>
        <a:srgbClr val="9FB3D9"/>
      </a:lt2>
      <a:accent1>
        <a:srgbClr val="2D7DFF"/>
      </a:accent1>
      <a:accent2>
        <a:srgbClr val="22D3EE"/>
      </a:accent2>
      <a:accent3>
        <a:srgbClr val="FF5C7A"/>
      </a:accent3>
      <a:accent4>
        <a:srgbClr val="7C8CFF"/>
      </a:accent4>
      <a:accent5>
        <a:srgbClr val="FFC857"/>
      </a:accent5>
      <a:accent6>
        <a:srgbClr val="3DDC97"/>
      </a:accent6>
      <a:hlink>
        <a:srgbClr val="22D3EE"/>
      </a:hlink>
      <a:folHlink>
        <a:srgbClr val="9FB3D9"/>
      </a:folHlink>
    </a:clrScheme>
    <a:fontScheme name="Navy Circui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Prim's and Kruskal's MST - Explainer Video Storyboard</dc:title>
  <dc:subject>Design and Analysis of Algorithms</dc:subject>
  <dc:creator>PptxGenJS</dc:creator>
  <cp:lastModifiedBy>PptxGenJS</cp:lastModifiedBy>
  <cp:revision>1</cp:revision>
  <dcterms:created xsi:type="dcterms:W3CDTF">2026-10-19T04:32:35Z</dcterms:created>
  <dcterms:modified xsi:type="dcterms:W3CDTF">2026-10-19T04:32:35Z</dcterms:modified>
</cp:coreProperties>
</file>